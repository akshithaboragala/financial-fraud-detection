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tadata" ContentType="application/binary"/>
  <Default Extension="svg" ContentType="image/svg+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9" r:id="rId4"/>
    <p:sldMasterId id="2147483703" r:id="rId5"/>
  </p:sldMasterIdLst>
  <p:notesMasterIdLst>
    <p:notesMasterId r:id="rId24"/>
  </p:notesMasterIdLst>
  <p:sldIdLst>
    <p:sldId id="256" r:id="rId6"/>
    <p:sldId id="368" r:id="rId7"/>
    <p:sldId id="369" r:id="rId8"/>
    <p:sldId id="370" r:id="rId9"/>
    <p:sldId id="389" r:id="rId10"/>
    <p:sldId id="390" r:id="rId11"/>
    <p:sldId id="372" r:id="rId12"/>
    <p:sldId id="373" r:id="rId13"/>
    <p:sldId id="381" r:id="rId14"/>
    <p:sldId id="382" r:id="rId15"/>
    <p:sldId id="388" r:id="rId16"/>
    <p:sldId id="383" r:id="rId17"/>
    <p:sldId id="385" r:id="rId18"/>
    <p:sldId id="391" r:id="rId19"/>
    <p:sldId id="387" r:id="rId20"/>
    <p:sldId id="376" r:id="rId21"/>
    <p:sldId id="377" r:id="rId22"/>
    <p:sldId id="348"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47"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1D63B5"/>
    <a:srgbClr val="0000A8"/>
    <a:srgbClr val="0000FF"/>
    <a:srgbClr val="213163"/>
    <a:srgbClr val="223366"/>
    <a:srgbClr val="001131"/>
    <a:srgbClr val="DDE8FF"/>
    <a:srgbClr val="851910"/>
    <a:srgbClr val="FFD5D5"/>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074EC-67CE-47CB-A1AE-428134479F55}" v="4" dt="2026-10-02T06:40:02.1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153" autoAdjust="0"/>
    <p:restoredTop sz="94561" autoAdjust="0"/>
  </p:normalViewPr>
  <p:slideViewPr>
    <p:cSldViewPr snapToGrid="0">
      <p:cViewPr varScale="1">
        <p:scale>
          <a:sx n="92" d="100"/>
          <a:sy n="92" d="100"/>
        </p:scale>
        <p:origin x="-774" y="-102"/>
      </p:cViewPr>
      <p:guideLst>
        <p:guide orient="horz" pos="588"/>
        <p:guide orient="horz" pos="852"/>
        <p:guide pos="144"/>
      </p:guideLst>
    </p:cSldViewPr>
  </p:slideViewPr>
  <p:notesTextViewPr>
    <p:cViewPr>
      <p:scale>
        <a:sx n="1" d="1"/>
        <a:sy n="1" d="1"/>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51"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xmlns=""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3268996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txBody>
          <a:bodyPr/>
          <a:lstStyle/>
          <a:p>
            <a:endParaRPr lang="en-IN" dirty="0"/>
          </a:p>
        </p:txBody>
      </p:sp>
      <p:sp>
        <p:nvSpPr>
          <p:cNvPr id="3" name="Notes Placeholder 2"/>
          <p:cNvSpPr>
            <a:spLocks noGrp="1"/>
          </p:cNvSpPr>
          <p:nvPr>
            <p:ph type="body" idx="1"/>
          </p:nvPr>
        </p:nvSpPr>
        <p:spPr/>
        <p:txBody>
          <a:bodyPr/>
          <a:lstStyle/>
          <a:p>
            <a:pPr marL="158750" indent="0">
              <a:buNone/>
            </a:pPr>
            <a:endParaRPr lang="en-US" b="1" dirty="0"/>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pPr algn="r"/>
              <a:t>2</a:t>
            </a:fld>
            <a:endParaRPr lang="en-US" sz="1400" b="0" strike="noStrike" spc="-1" dirty="0">
              <a:latin typeface="Times New Roman"/>
            </a:endParaRPr>
          </a:p>
        </p:txBody>
      </p:sp>
    </p:spTree>
    <p:extLst>
      <p:ext uri="{BB962C8B-B14F-4D97-AF65-F5344CB8AC3E}">
        <p14:creationId xmlns:p14="http://schemas.microsoft.com/office/powerpoint/2010/main" xmlns="" val="851770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txBody>
          <a:bodyPr/>
          <a:lstStyle/>
          <a:p>
            <a:endParaRPr lang="en-IN" dirty="0"/>
          </a:p>
        </p:txBody>
      </p:sp>
      <p:sp>
        <p:nvSpPr>
          <p:cNvPr id="380" name="PlaceHolder 2"/>
          <p:cNvSpPr>
            <a:spLocks noGrp="1"/>
          </p:cNvSpPr>
          <p:nvPr>
            <p:ph type="body"/>
          </p:nvPr>
        </p:nvSpPr>
        <p:spPr>
          <a:xfrm>
            <a:off x="685800" y="4400640"/>
            <a:ext cx="5486040" cy="3600000"/>
          </a:xfrm>
          <a:prstGeom prst="rect">
            <a:avLst/>
          </a:prstGeom>
        </p:spPr>
        <p:txBody>
          <a:bodyPr>
            <a:noAutofit/>
          </a:bodyPr>
          <a:lstStyle/>
          <a:p>
            <a:pPr marL="0" indent="0">
              <a:buFont typeface="Arial" panose="020B0604020202020204" pitchFamily="34" charset="0"/>
              <a:buNone/>
              <a:tabLst>
                <a:tab pos="0" algn="l"/>
              </a:tabLst>
            </a:pPr>
            <a:r>
              <a:rPr lang="en-IN" sz="2000" b="0" spc="-1" dirty="0"/>
              <a:t>thank you very much for joining</a:t>
            </a:r>
            <a:r>
              <a:rPr lang="en-IN" b="0" dirty="0"/>
              <a:t> this </a:t>
            </a:r>
            <a:r>
              <a:rPr lang="en-IN" dirty="0"/>
              <a:t>PPT</a:t>
            </a:r>
            <a:r>
              <a:rPr lang="en-IN" b="0" dirty="0"/>
              <a:t>, keep learning.</a:t>
            </a: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pPr algn="r">
                <a:lnSpc>
                  <a:spcPct val="100000"/>
                </a:lnSpc>
              </a:pPr>
              <a:t>18</a:t>
            </a:fld>
            <a:endParaRPr lang="en-US" sz="1200" b="0" strike="noStrike" spc="-1" dirty="0">
              <a:latin typeface="Times New Roman"/>
            </a:endParaRPr>
          </a:p>
        </p:txBody>
      </p:sp>
    </p:spTree>
    <p:extLst>
      <p:ext uri="{BB962C8B-B14F-4D97-AF65-F5344CB8AC3E}">
        <p14:creationId xmlns:p14="http://schemas.microsoft.com/office/powerpoint/2010/main" xmlns="" val="2385314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D8773D-4C38-8744-0AFB-0CA22E600D5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6D3D355-6982-21E1-2D61-B2B83AB81E09}"/>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F76A672B-C195-D917-28FD-DBF31E29D946}"/>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pPr/>
              <a:t>05-10-2026</a:t>
            </a:fld>
            <a:endParaRPr lang="en-IN" dirty="0"/>
          </a:p>
        </p:txBody>
      </p:sp>
      <p:sp>
        <p:nvSpPr>
          <p:cNvPr id="5" name="Footer Placeholder 4">
            <a:extLst>
              <a:ext uri="{FF2B5EF4-FFF2-40B4-BE49-F238E27FC236}">
                <a16:creationId xmlns:a16="http://schemas.microsoft.com/office/drawing/2014/main" xmlns="" id="{9839F364-3701-C854-B3AF-91B571545D3D}"/>
              </a:ext>
            </a:extLst>
          </p:cNvPr>
          <p:cNvSpPr>
            <a:spLocks noGrp="1"/>
          </p:cNvSpPr>
          <p:nvPr>
            <p:ph type="ftr" sz="quarter" idx="11"/>
          </p:nvPr>
        </p:nvSpPr>
        <p:spPr>
          <a:xfrm>
            <a:off x="3028950" y="4767263"/>
            <a:ext cx="3086100" cy="274637"/>
          </a:xfrm>
          <a:prstGeom prst="rect">
            <a:avLst/>
          </a:prstGeom>
        </p:spPr>
        <p:txBody>
          <a:bodyPr/>
          <a:lstStyle/>
          <a:p>
            <a:endParaRPr lang="en-IN" dirty="0"/>
          </a:p>
        </p:txBody>
      </p:sp>
      <p:sp>
        <p:nvSpPr>
          <p:cNvPr id="6" name="Slide Number Placeholder 5">
            <a:extLst>
              <a:ext uri="{FF2B5EF4-FFF2-40B4-BE49-F238E27FC236}">
                <a16:creationId xmlns:a16="http://schemas.microsoft.com/office/drawing/2014/main" xmlns="" id="{49F2DF01-13D1-311E-99AB-14EAF7D241FD}"/>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pPr/>
              <a:t>‹#›</a:t>
            </a:fld>
            <a:endParaRPr lang="en-IN" dirty="0"/>
          </a:p>
        </p:txBody>
      </p:sp>
    </p:spTree>
    <p:extLst>
      <p:ext uri="{BB962C8B-B14F-4D97-AF65-F5344CB8AC3E}">
        <p14:creationId xmlns:p14="http://schemas.microsoft.com/office/powerpoint/2010/main" xmlns="" val="2996561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userDrawn="1">
  <p:cSld name="1_Title only">
    <p:spTree>
      <p:nvGrpSpPr>
        <p:cNvPr id="1" name="Shape 25"/>
        <p:cNvGrpSpPr/>
        <p:nvPr/>
      </p:nvGrpSpPr>
      <p:grpSpPr>
        <a:xfrm>
          <a:off x="0" y="0"/>
          <a:ext cx="0" cy="0"/>
          <a:chOff x="0" y="0"/>
          <a:chExt cx="0" cy="0"/>
        </a:xfrm>
      </p:grpSpPr>
    </p:spTree>
    <p:extLst>
      <p:ext uri="{BB962C8B-B14F-4D97-AF65-F5344CB8AC3E}">
        <p14:creationId xmlns:p14="http://schemas.microsoft.com/office/powerpoint/2010/main" xmlns="" val="2345194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981218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3E1C365-DF6B-A277-87D7-3AEF70C3711F}"/>
              </a:ext>
            </a:extLst>
          </p:cNvPr>
          <p:cNvSpPr>
            <a:spLocks noGrp="1"/>
          </p:cNvSpPr>
          <p:nvPr>
            <p:ph type="dt" sz="half" idx="10"/>
          </p:nvPr>
        </p:nvSpPr>
        <p:spPr/>
        <p:txBody>
          <a:bodyPr/>
          <a:lstStyle/>
          <a:p>
            <a:fld id="{4619C939-ADFE-408C-B13F-060F8543796F}" type="datetimeFigureOut">
              <a:rPr lang="en-IN" smtClean="0"/>
              <a:pPr/>
              <a:t>05-10-2026</a:t>
            </a:fld>
            <a:endParaRPr lang="en-IN" dirty="0"/>
          </a:p>
        </p:txBody>
      </p:sp>
      <p:sp>
        <p:nvSpPr>
          <p:cNvPr id="3" name="Footer Placeholder 2">
            <a:extLst>
              <a:ext uri="{FF2B5EF4-FFF2-40B4-BE49-F238E27FC236}">
                <a16:creationId xmlns:a16="http://schemas.microsoft.com/office/drawing/2014/main" xmlns="" id="{0037EAD0-2370-28C8-77AF-E993C0FF677F}"/>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xmlns="" id="{A27AD49D-D54B-FCBB-AE34-F74F421188F7}"/>
              </a:ext>
            </a:extLst>
          </p:cNvPr>
          <p:cNvSpPr>
            <a:spLocks noGrp="1"/>
          </p:cNvSpPr>
          <p:nvPr>
            <p:ph type="sldNum" sz="quarter" idx="12"/>
          </p:nvPr>
        </p:nvSpPr>
        <p:spPr/>
        <p:txBody>
          <a:bodyPr/>
          <a:lstStyle/>
          <a:p>
            <a:fld id="{87AF13AC-DF95-49ED-812C-EFF416A67827}" type="slidenum">
              <a:rPr lang="en-IN" smtClean="0"/>
              <a:pPr/>
              <a:t>‹#›</a:t>
            </a:fld>
            <a:endParaRPr lang="en-IN" dirty="0"/>
          </a:p>
        </p:txBody>
      </p:sp>
    </p:spTree>
    <p:extLst>
      <p:ext uri="{BB962C8B-B14F-4D97-AF65-F5344CB8AC3E}">
        <p14:creationId xmlns:p14="http://schemas.microsoft.com/office/powerpoint/2010/main" xmlns="" val="39680664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5" name="Group 8">
            <a:extLst>
              <a:ext uri="{FF2B5EF4-FFF2-40B4-BE49-F238E27FC236}">
                <a16:creationId xmlns:a16="http://schemas.microsoft.com/office/drawing/2014/main" xmlns="" id="{5CE16B41-9AE0-6811-CB38-40C1D557BB8D}"/>
              </a:ext>
            </a:extLst>
          </p:cNvPr>
          <p:cNvGrpSpPr/>
          <p:nvPr userDrawn="1"/>
        </p:nvGrpSpPr>
        <p:grpSpPr>
          <a:xfrm>
            <a:off x="0" y="0"/>
            <a:ext cx="9144000" cy="424206"/>
            <a:chOff x="0" y="0"/>
            <a:chExt cx="4402382" cy="66464"/>
          </a:xfrm>
        </p:grpSpPr>
        <p:sp>
          <p:nvSpPr>
            <p:cNvPr id="46" name="Freeform 9">
              <a:extLst>
                <a:ext uri="{FF2B5EF4-FFF2-40B4-BE49-F238E27FC236}">
                  <a16:creationId xmlns:a16="http://schemas.microsoft.com/office/drawing/2014/main" xmlns="" id="{2DC730B1-A9A0-5846-FA0E-7C76E7BC8C1F}"/>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dirty="0"/>
            </a:p>
          </p:txBody>
        </p:sp>
        <p:sp>
          <p:nvSpPr>
            <p:cNvPr id="47" name="TextBox 10">
              <a:extLst>
                <a:ext uri="{FF2B5EF4-FFF2-40B4-BE49-F238E27FC236}">
                  <a16:creationId xmlns:a16="http://schemas.microsoft.com/office/drawing/2014/main" xmlns="" id="{8CD66830-1039-0258-6D99-917E0E14C8D9}"/>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27" name="Group 8">
            <a:extLst>
              <a:ext uri="{FF2B5EF4-FFF2-40B4-BE49-F238E27FC236}">
                <a16:creationId xmlns:a16="http://schemas.microsoft.com/office/drawing/2014/main" xmlns="" id="{2C29429C-8EAC-76C8-4BCA-392E093E6071}"/>
              </a:ext>
            </a:extLst>
          </p:cNvPr>
          <p:cNvGrpSpPr/>
          <p:nvPr userDrawn="1"/>
        </p:nvGrpSpPr>
        <p:grpSpPr>
          <a:xfrm>
            <a:off x="0" y="5036127"/>
            <a:ext cx="9144000" cy="107373"/>
            <a:chOff x="0" y="0"/>
            <a:chExt cx="4402382" cy="66464"/>
          </a:xfrm>
        </p:grpSpPr>
        <p:sp>
          <p:nvSpPr>
            <p:cNvPr id="28" name="Freeform 9">
              <a:extLst>
                <a:ext uri="{FF2B5EF4-FFF2-40B4-BE49-F238E27FC236}">
                  <a16:creationId xmlns:a16="http://schemas.microsoft.com/office/drawing/2014/main" xmlns="" id="{3516D9FB-246A-B941-D7A1-740294C5CA57}"/>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dirty="0"/>
            </a:p>
          </p:txBody>
        </p:sp>
        <p:sp>
          <p:nvSpPr>
            <p:cNvPr id="29" name="TextBox 10">
              <a:extLst>
                <a:ext uri="{FF2B5EF4-FFF2-40B4-BE49-F238E27FC236}">
                  <a16:creationId xmlns:a16="http://schemas.microsoft.com/office/drawing/2014/main" xmlns="" id="{D686EB00-C97A-3031-39C9-0116D5FA777C}"/>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52" name="Picture 51" descr="A black and white logo&#10;&#10;AI-generated content may be incorrect.">
            <a:extLst>
              <a:ext uri="{FF2B5EF4-FFF2-40B4-BE49-F238E27FC236}">
                <a16:creationId xmlns:a16="http://schemas.microsoft.com/office/drawing/2014/main" xmlns="" id="{60FBBEFD-E0CD-6C02-78E2-27F2F5BE999B}"/>
              </a:ext>
            </a:extLst>
          </p:cNvPr>
          <p:cNvPicPr>
            <a:picLocks noChangeAspect="1"/>
          </p:cNvPicPr>
          <p:nvPr userDrawn="1"/>
        </p:nvPicPr>
        <p:blipFill>
          <a:blip r:embed="rId5"/>
          <a:stretch>
            <a:fillRect/>
          </a:stretch>
        </p:blipFill>
        <p:spPr>
          <a:xfrm>
            <a:off x="7820696" y="55166"/>
            <a:ext cx="965086" cy="313873"/>
          </a:xfrm>
          <a:prstGeom prst="rect">
            <a:avLst/>
          </a:prstGeom>
        </p:spPr>
      </p:pic>
    </p:spTree>
    <p:extLst>
      <p:ext uri="{BB962C8B-B14F-4D97-AF65-F5344CB8AC3E}">
        <p14:creationId xmlns:p14="http://schemas.microsoft.com/office/powerpoint/2010/main" xmlns="" val="4181085073"/>
      </p:ext>
    </p:extLst>
  </p:cSld>
  <p:clrMap bg1="lt1" tx1="dk1" bg2="lt2" tx2="dk2" accent1="accent1" accent2="accent2" accent3="accent3" accent4="accent4" accent5="accent5" accent6="accent6" hlink="hlink" folHlink="folHlink"/>
  <p:sldLayoutIdLst>
    <p:sldLayoutId id="2147483690" r:id="rId1"/>
    <p:sldLayoutId id="2147483701" r:id="rId2"/>
    <p:sldLayoutId id="214748370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9320F0D-6106-F211-E1F0-235C9515127B}"/>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1053594-5ABE-5A71-F216-60DA71155BD2}"/>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578D17C-F6CB-10BD-69CB-90B7D1775B40}"/>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4619C939-ADFE-408C-B13F-060F8543796F}" type="datetimeFigureOut">
              <a:rPr lang="en-IN" smtClean="0"/>
              <a:pPr/>
              <a:t>05-10-2026</a:t>
            </a:fld>
            <a:endParaRPr lang="en-IN" dirty="0"/>
          </a:p>
        </p:txBody>
      </p:sp>
      <p:sp>
        <p:nvSpPr>
          <p:cNvPr id="5" name="Footer Placeholder 4">
            <a:extLst>
              <a:ext uri="{FF2B5EF4-FFF2-40B4-BE49-F238E27FC236}">
                <a16:creationId xmlns:a16="http://schemas.microsoft.com/office/drawing/2014/main" xmlns="" id="{72DAF371-35AE-88EA-78A9-9B2929D5B726}"/>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xmlns="" id="{77DD9255-886B-C631-049F-E81D2F7F4D73}"/>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87AF13AC-DF95-49ED-812C-EFF416A67827}" type="slidenum">
              <a:rPr lang="en-IN" smtClean="0"/>
              <a:pPr/>
              <a:t>‹#›</a:t>
            </a:fld>
            <a:endParaRPr lang="en-IN" dirty="0"/>
          </a:p>
        </p:txBody>
      </p:sp>
      <p:pic>
        <p:nvPicPr>
          <p:cNvPr id="54" name="Picture 53" descr="A white woven seamless grid pattern">
            <a:extLst>
              <a:ext uri="{FF2B5EF4-FFF2-40B4-BE49-F238E27FC236}">
                <a16:creationId xmlns:a16="http://schemas.microsoft.com/office/drawing/2014/main" xmlns="" id="{336B95B5-7E98-C63C-7005-DB619E8AA3E9}"/>
              </a:ext>
            </a:extLst>
          </p:cNvPr>
          <p:cNvPicPr>
            <a:picLocks noChangeAspect="1"/>
          </p:cNvPicPr>
          <p:nvPr userDrawn="1"/>
        </p:nvPicPr>
        <p:blipFill>
          <a:blip r:embed="rId3">
            <a:alphaModFix amt="20000"/>
          </a:blip>
          <a:stretch>
            <a:fillRect/>
          </a:stretch>
        </p:blipFill>
        <p:spPr>
          <a:xfrm>
            <a:off x="0" y="0"/>
            <a:ext cx="9143999" cy="5143500"/>
          </a:xfrm>
          <a:prstGeom prst="rect">
            <a:avLst/>
          </a:prstGeom>
        </p:spPr>
      </p:pic>
    </p:spTree>
    <p:extLst>
      <p:ext uri="{BB962C8B-B14F-4D97-AF65-F5344CB8AC3E}">
        <p14:creationId xmlns:p14="http://schemas.microsoft.com/office/powerpoint/2010/main" xmlns="" val="1587254894"/>
      </p:ext>
    </p:extLst>
  </p:cSld>
  <p:clrMap bg1="lt1" tx1="dk1" bg2="lt2" tx2="dk2" accent1="accent1" accent2="accent2" accent3="accent3" accent4="accent4" accent5="accent5" accent6="accent6" hlink="hlink" folHlink="folHlink"/>
  <p:sldLayoutIdLst>
    <p:sldLayoutId id="214748371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hyperlink" Target="mailto:akshithaboragala@gmail.com" TargetMode="External"/><Relationship Id="rId13" Type="http://schemas.openxmlformats.org/officeDocument/2006/relationships/image" Target="../media/image9.png"/><Relationship Id="rId3" Type="http://schemas.openxmlformats.org/officeDocument/2006/relationships/image" Target="../media/image3.jpeg"/><Relationship Id="rId7" Type="http://schemas.openxmlformats.org/officeDocument/2006/relationships/hyperlink" Target="mailto:karrerakshitha944@gmail.com" TargetMode="External"/><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hyperlink" Target="mailto:manasakunja@gmail.com" TargetMode="External"/><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11.png"/><Relationship Id="rId10" Type="http://schemas.openxmlformats.org/officeDocument/2006/relationships/image" Target="../media/image6.jpeg"/><Relationship Id="rId4" Type="http://schemas.openxmlformats.org/officeDocument/2006/relationships/image" Target="../media/image4.svg"/><Relationship Id="rId9" Type="http://schemas.openxmlformats.org/officeDocument/2006/relationships/image" Target="../media/image5.png"/><Relationship Id="rId1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video" Target="file:///C:\Users\DELL\Videos\Captures\Home%20and%203%20more%20pages%20-%20Profile%201%20-%20Microsoft&#8203;%20Edge%202026-10-05%2011-51-54.mp4"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xmlns="" id="{E1E3E7CA-E75C-8BCB-4743-8B19F589EE9B}"/>
              </a:ext>
            </a:extLst>
          </p:cNvPr>
          <p:cNvSpPr/>
          <p:nvPr/>
        </p:nvSpPr>
        <p:spPr>
          <a:xfrm>
            <a:off x="364882" y="652908"/>
            <a:ext cx="3971824"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 name="Group 2"/>
          <p:cNvGrpSpPr/>
          <p:nvPr/>
        </p:nvGrpSpPr>
        <p:grpSpPr>
          <a:xfrm>
            <a:off x="0" y="0"/>
            <a:ext cx="4153368" cy="126178"/>
            <a:chOff x="0" y="0"/>
            <a:chExt cx="2187782" cy="66464"/>
          </a:xfrm>
        </p:grpSpPr>
        <p:sp>
          <p:nvSpPr>
            <p:cNvPr id="3" name="Freeform 3"/>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4" name="TextBox 4"/>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dirty="0"/>
            </a:p>
          </p:txBody>
        </p:sp>
      </p:grpSp>
      <p:grpSp>
        <p:nvGrpSpPr>
          <p:cNvPr id="5" name="Group 5"/>
          <p:cNvGrpSpPr/>
          <p:nvPr/>
        </p:nvGrpSpPr>
        <p:grpSpPr>
          <a:xfrm>
            <a:off x="0" y="5017322"/>
            <a:ext cx="7571294" cy="126178"/>
            <a:chOff x="0" y="0"/>
            <a:chExt cx="3988171" cy="66464"/>
          </a:xfrm>
        </p:grpSpPr>
        <p:sp>
          <p:nvSpPr>
            <p:cNvPr id="6" name="Freeform 6"/>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7" name="TextBox 7"/>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dirty="0"/>
            </a:p>
          </p:txBody>
        </p:sp>
      </p:grpSp>
      <p:grpSp>
        <p:nvGrpSpPr>
          <p:cNvPr id="8" name="Group 8"/>
          <p:cNvGrpSpPr/>
          <p:nvPr/>
        </p:nvGrpSpPr>
        <p:grpSpPr>
          <a:xfrm rot="2700000">
            <a:off x="3661769" y="-528997"/>
            <a:ext cx="4602320" cy="2123257"/>
            <a:chOff x="0" y="0"/>
            <a:chExt cx="2424267" cy="1118423"/>
          </a:xfrm>
        </p:grpSpPr>
        <p:sp>
          <p:nvSpPr>
            <p:cNvPr id="9" name="Freeform 9"/>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10" name="TextBox 10"/>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dirty="0"/>
            </a:p>
          </p:txBody>
        </p:sp>
      </p:grpSp>
      <p:grpSp>
        <p:nvGrpSpPr>
          <p:cNvPr id="11" name="Group 11"/>
          <p:cNvGrpSpPr/>
          <p:nvPr/>
        </p:nvGrpSpPr>
        <p:grpSpPr>
          <a:xfrm rot="2700000">
            <a:off x="5632358" y="303921"/>
            <a:ext cx="3724082" cy="1064394"/>
            <a:chOff x="0" y="0"/>
            <a:chExt cx="1961656" cy="560668"/>
          </a:xfrm>
        </p:grpSpPr>
        <p:sp>
          <p:nvSpPr>
            <p:cNvPr id="12" name="Freeform 12"/>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13" name="TextBox 13"/>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dirty="0"/>
            </a:p>
          </p:txBody>
        </p:sp>
      </p:grpSp>
      <p:grpSp>
        <p:nvGrpSpPr>
          <p:cNvPr id="14" name="Group 14"/>
          <p:cNvGrpSpPr/>
          <p:nvPr/>
        </p:nvGrpSpPr>
        <p:grpSpPr>
          <a:xfrm rot="2700000">
            <a:off x="7528217" y="-892816"/>
            <a:ext cx="2873959" cy="1967021"/>
            <a:chOff x="0" y="0"/>
            <a:chExt cx="1513855" cy="1036126"/>
          </a:xfrm>
        </p:grpSpPr>
        <p:sp>
          <p:nvSpPr>
            <p:cNvPr id="15" name="Freeform 15"/>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16" name="TextBox 16"/>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dirty="0"/>
            </a:p>
          </p:txBody>
        </p:sp>
      </p:grpSp>
      <p:grpSp>
        <p:nvGrpSpPr>
          <p:cNvPr id="17" name="Group 17"/>
          <p:cNvGrpSpPr/>
          <p:nvPr/>
        </p:nvGrpSpPr>
        <p:grpSpPr>
          <a:xfrm rot="2700000">
            <a:off x="6756840" y="4003698"/>
            <a:ext cx="4602320" cy="2123257"/>
            <a:chOff x="0" y="0"/>
            <a:chExt cx="2424267" cy="1118423"/>
          </a:xfrm>
        </p:grpSpPr>
        <p:sp>
          <p:nvSpPr>
            <p:cNvPr id="18" name="Freeform 18"/>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19" name="TextBox 19"/>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dirty="0"/>
            </a:p>
          </p:txBody>
        </p:sp>
      </p:grpSp>
      <p:grpSp>
        <p:nvGrpSpPr>
          <p:cNvPr id="20" name="Group 20"/>
          <p:cNvGrpSpPr/>
          <p:nvPr/>
        </p:nvGrpSpPr>
        <p:grpSpPr>
          <a:xfrm rot="2700000">
            <a:off x="7842195" y="3672519"/>
            <a:ext cx="2166949" cy="1126189"/>
            <a:chOff x="0" y="0"/>
            <a:chExt cx="1141438" cy="593219"/>
          </a:xfrm>
        </p:grpSpPr>
        <p:sp>
          <p:nvSpPr>
            <p:cNvPr id="21" name="Freeform 21"/>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22" name="TextBox 22"/>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dirty="0"/>
            </a:p>
          </p:txBody>
        </p:sp>
      </p:grpSp>
      <p:grpSp>
        <p:nvGrpSpPr>
          <p:cNvPr id="23" name="Group 23"/>
          <p:cNvGrpSpPr/>
          <p:nvPr/>
        </p:nvGrpSpPr>
        <p:grpSpPr>
          <a:xfrm>
            <a:off x="5720497" y="768985"/>
            <a:ext cx="3475712" cy="3475712"/>
            <a:chOff x="0" y="0"/>
            <a:chExt cx="812800" cy="812800"/>
          </a:xfrm>
        </p:grpSpPr>
        <p:sp>
          <p:nvSpPr>
            <p:cNvPr id="24" name="Freeform 24"/>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dirty="0"/>
            </a:p>
          </p:txBody>
        </p:sp>
        <p:sp>
          <p:nvSpPr>
            <p:cNvPr id="25" name="TextBox 25"/>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dirty="0"/>
            </a:p>
          </p:txBody>
        </p:sp>
      </p:grpSp>
      <p:grpSp>
        <p:nvGrpSpPr>
          <p:cNvPr id="26" name="Group 26"/>
          <p:cNvGrpSpPr/>
          <p:nvPr/>
        </p:nvGrpSpPr>
        <p:grpSpPr>
          <a:xfrm>
            <a:off x="6042516" y="984539"/>
            <a:ext cx="3040859" cy="3040859"/>
            <a:chOff x="0" y="0"/>
            <a:chExt cx="812800" cy="812800"/>
          </a:xfrm>
        </p:grpSpPr>
        <p:sp>
          <p:nvSpPr>
            <p:cNvPr id="27" name="Freeform 27"/>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blipFill>
              <a:blip r:embed="rId3"/>
              <a:stretch>
                <a:fillRect l="-25046" r="-25046"/>
              </a:stretch>
            </a:blipFill>
            <a:ln w="171450" cap="sq">
              <a:solidFill>
                <a:srgbClr val="F3F3F3"/>
              </a:solidFill>
              <a:prstDash val="solid"/>
              <a:miter/>
            </a:ln>
          </p:spPr>
          <p:txBody>
            <a:bodyPr/>
            <a:lstStyle/>
            <a:p>
              <a:endParaRPr lang="en-IN" sz="700" dirty="0"/>
            </a:p>
          </p:txBody>
        </p:sp>
      </p:grpSp>
      <p:grpSp>
        <p:nvGrpSpPr>
          <p:cNvPr id="28" name="Group 28"/>
          <p:cNvGrpSpPr/>
          <p:nvPr/>
        </p:nvGrpSpPr>
        <p:grpSpPr>
          <a:xfrm>
            <a:off x="0" y="3022795"/>
            <a:ext cx="4224335" cy="394131"/>
            <a:chOff x="0" y="0"/>
            <a:chExt cx="4355842" cy="406400"/>
          </a:xfrm>
        </p:grpSpPr>
        <p:sp>
          <p:nvSpPr>
            <p:cNvPr id="29" name="Freeform 29"/>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30" name="TextBox 30"/>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dirty="0"/>
            </a:p>
          </p:txBody>
        </p:sp>
      </p:grpSp>
      <p:sp>
        <p:nvSpPr>
          <p:cNvPr id="34" name="Freeform 34"/>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IN" sz="700" dirty="0"/>
          </a:p>
        </p:txBody>
      </p:sp>
      <p:sp>
        <p:nvSpPr>
          <p:cNvPr id="35" name="Freeform 35"/>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IN" sz="700" dirty="0"/>
          </a:p>
        </p:txBody>
      </p:sp>
      <p:sp>
        <p:nvSpPr>
          <p:cNvPr id="36" name="Freeform 36"/>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IN" sz="700" dirty="0"/>
          </a:p>
        </p:txBody>
      </p:sp>
      <p:sp>
        <p:nvSpPr>
          <p:cNvPr id="37" name="TextBox 37"/>
          <p:cNvSpPr txBox="1"/>
          <p:nvPr/>
        </p:nvSpPr>
        <p:spPr>
          <a:xfrm>
            <a:off x="368661" y="1575414"/>
            <a:ext cx="4938456" cy="1018356"/>
          </a:xfrm>
          <a:prstGeom prst="rect">
            <a:avLst/>
          </a:prstGeom>
        </p:spPr>
        <p:txBody>
          <a:bodyPr wrap="square" lIns="0" tIns="0" rIns="0" bIns="0" rtlCol="0" anchor="t">
            <a:spAutoFit/>
          </a:bodyPr>
          <a:lstStyle/>
          <a:p>
            <a:pPr>
              <a:lnSpc>
                <a:spcPts val="2700"/>
              </a:lnSpc>
            </a:pPr>
            <a:r>
              <a:rPr lang="en-US" sz="2200" b="1" dirty="0">
                <a:solidFill>
                  <a:srgbClr val="0D358D"/>
                </a:solidFill>
                <a:latin typeface="Times New Roman" pitchFamily="18" charset="0"/>
                <a:ea typeface="Aileron Ultra-Bold"/>
                <a:cs typeface="Times New Roman" pitchFamily="18" charset="0"/>
                <a:sym typeface="Aileron Ultra-Bold"/>
              </a:rPr>
              <a:t>FINANCIAL FRAUD DETECTION AND TRANSACTION PATTERN ANALYSIS USING ML</a:t>
            </a:r>
          </a:p>
        </p:txBody>
      </p:sp>
      <p:sp>
        <p:nvSpPr>
          <p:cNvPr id="44" name="TextBox 44"/>
          <p:cNvSpPr txBox="1"/>
          <p:nvPr/>
        </p:nvSpPr>
        <p:spPr>
          <a:xfrm>
            <a:off x="466725" y="3100839"/>
            <a:ext cx="3809409" cy="243656"/>
          </a:xfrm>
          <a:prstGeom prst="rect">
            <a:avLst/>
          </a:prstGeom>
        </p:spPr>
        <p:txBody>
          <a:bodyPr lIns="0" tIns="0" rIns="0" bIns="0" rtlCol="0" anchor="t">
            <a:spAutoFit/>
          </a:bodyPr>
          <a:lstStyle/>
          <a:p>
            <a:pPr>
              <a:lnSpc>
                <a:spcPts val="1943"/>
              </a:lnSpc>
            </a:pPr>
            <a:r>
              <a:rPr lang="en-US" sz="1618" b="1" spc="583" dirty="0">
                <a:solidFill>
                  <a:srgbClr val="FFFFFF"/>
                </a:solidFill>
                <a:latin typeface="Times New Roman" pitchFamily="18" charset="0"/>
                <a:ea typeface="Aileron Bold"/>
                <a:cs typeface="Times New Roman" pitchFamily="18" charset="0"/>
                <a:sym typeface="Aileron Bold"/>
              </a:rPr>
              <a:t>PRESENTATION 2026</a:t>
            </a:r>
          </a:p>
        </p:txBody>
      </p:sp>
      <p:grpSp>
        <p:nvGrpSpPr>
          <p:cNvPr id="64" name="Group 63">
            <a:extLst>
              <a:ext uri="{FF2B5EF4-FFF2-40B4-BE49-F238E27FC236}">
                <a16:creationId xmlns:a16="http://schemas.microsoft.com/office/drawing/2014/main" xmlns="" id="{13F280E3-480F-FB8A-7665-DA332ECA167D}"/>
              </a:ext>
            </a:extLst>
          </p:cNvPr>
          <p:cNvGrpSpPr/>
          <p:nvPr/>
        </p:nvGrpSpPr>
        <p:grpSpPr>
          <a:xfrm>
            <a:off x="121663" y="3809646"/>
            <a:ext cx="2058603" cy="1173143"/>
            <a:chOff x="378050" y="4295282"/>
            <a:chExt cx="2058603" cy="1173143"/>
          </a:xfrm>
        </p:grpSpPr>
        <p:sp>
          <p:nvSpPr>
            <p:cNvPr id="40" name="TextBox 40"/>
            <p:cNvSpPr txBox="1"/>
            <p:nvPr/>
          </p:nvSpPr>
          <p:spPr>
            <a:xfrm>
              <a:off x="803221" y="4295282"/>
              <a:ext cx="1633432" cy="154209"/>
            </a:xfrm>
            <a:prstGeom prst="rect">
              <a:avLst/>
            </a:prstGeom>
          </p:spPr>
          <p:txBody>
            <a:bodyPr lIns="0" tIns="0" rIns="0" bIns="0" rtlCol="0" anchor="t">
              <a:spAutoFit/>
            </a:bodyPr>
            <a:lstStyle/>
            <a:p>
              <a:pPr>
                <a:lnSpc>
                  <a:spcPts val="1296"/>
                </a:lnSpc>
              </a:pPr>
              <a:r>
                <a:rPr lang="en-US" sz="1000" dirty="0">
                  <a:latin typeface="Times New Roman" pitchFamily="18" charset="0"/>
                  <a:ea typeface="Aileron"/>
                  <a:cs typeface="Times New Roman" pitchFamily="18" charset="0"/>
                  <a:sym typeface="Aileron"/>
                </a:rPr>
                <a:t>Student Name</a:t>
              </a:r>
            </a:p>
          </p:txBody>
        </p:sp>
        <p:sp>
          <p:nvSpPr>
            <p:cNvPr id="42" name="TextBox 42"/>
            <p:cNvSpPr txBox="1"/>
            <p:nvPr/>
          </p:nvSpPr>
          <p:spPr>
            <a:xfrm>
              <a:off x="803221" y="4456866"/>
              <a:ext cx="1633432" cy="1011559"/>
            </a:xfrm>
            <a:prstGeom prst="rect">
              <a:avLst/>
            </a:prstGeom>
          </p:spPr>
          <p:txBody>
            <a:bodyPr lIns="0" tIns="0" rIns="0" bIns="0" rtlCol="0" anchor="t">
              <a:spAutoFit/>
            </a:bodyPr>
            <a:lstStyle/>
            <a:p>
              <a:pPr>
                <a:lnSpc>
                  <a:spcPts val="2038"/>
                </a:lnSpc>
              </a:pPr>
              <a:r>
                <a:rPr lang="en-US" b="1" dirty="0">
                  <a:solidFill>
                    <a:srgbClr val="0D358D"/>
                  </a:solidFill>
                  <a:latin typeface="Times New Roman" panose="02020603050405020304" pitchFamily="18" charset="0"/>
                  <a:ea typeface="Aileron Bold"/>
                  <a:cs typeface="Times New Roman" panose="02020603050405020304" pitchFamily="18" charset="0"/>
                  <a:sym typeface="Aileron Bold"/>
                </a:rPr>
                <a:t>K.Manasa</a:t>
              </a:r>
            </a:p>
            <a:p>
              <a:pPr>
                <a:lnSpc>
                  <a:spcPts val="2038"/>
                </a:lnSpc>
              </a:pPr>
              <a:r>
                <a:rPr lang="en-US" b="1" dirty="0">
                  <a:solidFill>
                    <a:srgbClr val="0D358D"/>
                  </a:solidFill>
                  <a:latin typeface="Times New Roman" panose="02020603050405020304" pitchFamily="18" charset="0"/>
                  <a:ea typeface="Aileron Bold"/>
                  <a:cs typeface="Times New Roman" panose="02020603050405020304" pitchFamily="18" charset="0"/>
                  <a:sym typeface="Aileron Bold"/>
                </a:rPr>
                <a:t>K.Rakshitha</a:t>
              </a:r>
            </a:p>
            <a:p>
              <a:pPr>
                <a:lnSpc>
                  <a:spcPts val="2038"/>
                </a:lnSpc>
              </a:pPr>
              <a:r>
                <a:rPr lang="en-US" b="1" dirty="0">
                  <a:solidFill>
                    <a:srgbClr val="0D358D"/>
                  </a:solidFill>
                  <a:latin typeface="Times New Roman" panose="02020603050405020304" pitchFamily="18" charset="0"/>
                  <a:ea typeface="Aileron Bold"/>
                  <a:cs typeface="Times New Roman" panose="02020603050405020304" pitchFamily="18" charset="0"/>
                  <a:sym typeface="Aileron Bold"/>
                </a:rPr>
                <a:t>B.Akshitha</a:t>
              </a:r>
            </a:p>
          </p:txBody>
        </p:sp>
        <p:pic>
          <p:nvPicPr>
            <p:cNvPr id="50" name="Picture 49" descr="A blue circle with a person and a envelope in it&#10;&#10;AI-generated content may be incorrect.">
              <a:extLst>
                <a:ext uri="{FF2B5EF4-FFF2-40B4-BE49-F238E27FC236}">
                  <a16:creationId xmlns:a16="http://schemas.microsoft.com/office/drawing/2014/main" xmlns="" id="{D896BA5A-C1EC-A54D-25FD-EA005C313464}"/>
                </a:ext>
              </a:extLst>
            </p:cNvPr>
            <p:cNvPicPr>
              <a:picLocks noChangeAspect="1"/>
            </p:cNvPicPr>
            <p:nvPr/>
          </p:nvPicPr>
          <p:blipFill>
            <a:blip r:embed="rId5"/>
            <a:srcRect l="26757" t="2453" r="27842" b="53701"/>
            <a:stretch>
              <a:fillRect/>
            </a:stretch>
          </p:blipFill>
          <p:spPr>
            <a:xfrm>
              <a:off x="378050" y="4320144"/>
              <a:ext cx="395331" cy="381795"/>
            </a:xfrm>
            <a:prstGeom prst="rect">
              <a:avLst/>
            </a:prstGeom>
          </p:spPr>
        </p:pic>
      </p:grpSp>
      <p:grpSp>
        <p:nvGrpSpPr>
          <p:cNvPr id="65" name="Group 64">
            <a:extLst>
              <a:ext uri="{FF2B5EF4-FFF2-40B4-BE49-F238E27FC236}">
                <a16:creationId xmlns:a16="http://schemas.microsoft.com/office/drawing/2014/main" xmlns="" id="{B96BF95C-06D8-5024-2B53-C5B8F783D4D8}"/>
              </a:ext>
            </a:extLst>
          </p:cNvPr>
          <p:cNvGrpSpPr/>
          <p:nvPr/>
        </p:nvGrpSpPr>
        <p:grpSpPr>
          <a:xfrm>
            <a:off x="1781249" y="3804115"/>
            <a:ext cx="3012128" cy="1187506"/>
            <a:chOff x="2710862" y="4295282"/>
            <a:chExt cx="2862376" cy="1187506"/>
          </a:xfrm>
        </p:grpSpPr>
        <p:sp>
          <p:nvSpPr>
            <p:cNvPr id="41" name="TextBox 41"/>
            <p:cNvSpPr txBox="1"/>
            <p:nvPr/>
          </p:nvSpPr>
          <p:spPr>
            <a:xfrm>
              <a:off x="3139699" y="4295282"/>
              <a:ext cx="1809978" cy="154209"/>
            </a:xfrm>
            <a:prstGeom prst="rect">
              <a:avLst/>
            </a:prstGeom>
          </p:spPr>
          <p:txBody>
            <a:bodyPr lIns="0" tIns="0" rIns="0" bIns="0" rtlCol="0" anchor="t">
              <a:spAutoFit/>
            </a:bodyPr>
            <a:lstStyle/>
            <a:p>
              <a:pPr>
                <a:lnSpc>
                  <a:spcPts val="1296"/>
                </a:lnSpc>
              </a:pPr>
              <a:r>
                <a:rPr lang="en-US" sz="1000" dirty="0">
                  <a:latin typeface="Times New Roman" pitchFamily="18" charset="0"/>
                  <a:ea typeface="Aileron"/>
                  <a:cs typeface="Times New Roman" pitchFamily="18" charset="0"/>
                  <a:sym typeface="Aileron"/>
                </a:rPr>
                <a:t>Student Email</a:t>
              </a:r>
            </a:p>
          </p:txBody>
        </p:sp>
        <p:sp>
          <p:nvSpPr>
            <p:cNvPr id="43" name="TextBox 43"/>
            <p:cNvSpPr txBox="1"/>
            <p:nvPr/>
          </p:nvSpPr>
          <p:spPr>
            <a:xfrm>
              <a:off x="3139699" y="4456866"/>
              <a:ext cx="2433539" cy="1025922"/>
            </a:xfrm>
            <a:prstGeom prst="rect">
              <a:avLst/>
            </a:prstGeom>
          </p:spPr>
          <p:txBody>
            <a:bodyPr wrap="square" lIns="0" tIns="0" rIns="0" bIns="0" rtlCol="0" anchor="t">
              <a:spAutoFit/>
            </a:bodyPr>
            <a:lstStyle/>
            <a:p>
              <a:pPr>
                <a:lnSpc>
                  <a:spcPts val="2038"/>
                </a:lnSpc>
              </a:pPr>
              <a:r>
                <a:rPr lang="en-US" b="1" dirty="0">
                  <a:solidFill>
                    <a:srgbClr val="0D358D"/>
                  </a:solidFill>
                  <a:latin typeface="Times New Roman" panose="02020603050405020304" pitchFamily="18" charset="0"/>
                  <a:ea typeface="Aileron Bold"/>
                  <a:cs typeface="Times New Roman" panose="02020603050405020304" pitchFamily="18" charset="0"/>
                  <a:sym typeface="Aileron Bold"/>
                  <a:hlinkClick r:id="rId6"/>
                </a:rPr>
                <a:t>manasakunja11@gmail.com</a:t>
              </a:r>
              <a:endParaRPr lang="en-US" b="1" dirty="0">
                <a:solidFill>
                  <a:srgbClr val="0D358D"/>
                </a:solidFill>
                <a:latin typeface="Times New Roman" panose="02020603050405020304" pitchFamily="18" charset="0"/>
                <a:ea typeface="Aileron Bold"/>
                <a:cs typeface="Times New Roman" panose="02020603050405020304" pitchFamily="18" charset="0"/>
                <a:sym typeface="Aileron Bold"/>
              </a:endParaRPr>
            </a:p>
            <a:p>
              <a:pPr>
                <a:lnSpc>
                  <a:spcPts val="2038"/>
                </a:lnSpc>
              </a:pPr>
              <a:r>
                <a:rPr lang="en-US" b="1" dirty="0">
                  <a:solidFill>
                    <a:srgbClr val="0D358D"/>
                  </a:solidFill>
                  <a:latin typeface="Times New Roman" panose="02020603050405020304" pitchFamily="18" charset="0"/>
                  <a:ea typeface="Aileron Bold"/>
                  <a:cs typeface="Times New Roman" panose="02020603050405020304" pitchFamily="18" charset="0"/>
                  <a:sym typeface="Aileron Bold"/>
                  <a:hlinkClick r:id="rId7"/>
                </a:rPr>
                <a:t>karrerakshitha944@gmail.com</a:t>
              </a:r>
              <a:endParaRPr lang="en-US" b="1" dirty="0">
                <a:solidFill>
                  <a:srgbClr val="0D358D"/>
                </a:solidFill>
                <a:latin typeface="Times New Roman" panose="02020603050405020304" pitchFamily="18" charset="0"/>
                <a:ea typeface="Aileron Bold"/>
                <a:cs typeface="Times New Roman" panose="02020603050405020304" pitchFamily="18" charset="0"/>
                <a:sym typeface="Aileron Bold"/>
              </a:endParaRPr>
            </a:p>
            <a:p>
              <a:pPr>
                <a:lnSpc>
                  <a:spcPts val="2038"/>
                </a:lnSpc>
              </a:pPr>
              <a:r>
                <a:rPr lang="en-US" b="1" dirty="0">
                  <a:solidFill>
                    <a:srgbClr val="0D358D"/>
                  </a:solidFill>
                  <a:latin typeface="Times New Roman" panose="02020603050405020304" pitchFamily="18" charset="0"/>
                  <a:ea typeface="Aileron Bold"/>
                  <a:cs typeface="Times New Roman" panose="02020603050405020304" pitchFamily="18" charset="0"/>
                  <a:sym typeface="Aileron Bold"/>
                  <a:hlinkClick r:id="rId8"/>
                </a:rPr>
                <a:t>akshithaboragala@gmail.com</a:t>
              </a:r>
              <a:endParaRPr lang="en-US" b="1" dirty="0">
                <a:solidFill>
                  <a:srgbClr val="0D358D"/>
                </a:solidFill>
                <a:latin typeface="Times New Roman" panose="02020603050405020304" pitchFamily="18" charset="0"/>
                <a:ea typeface="Aileron Bold"/>
                <a:cs typeface="Times New Roman" panose="02020603050405020304" pitchFamily="18" charset="0"/>
                <a:sym typeface="Aileron Bold"/>
              </a:endParaRPr>
            </a:p>
            <a:p>
              <a:pPr>
                <a:lnSpc>
                  <a:spcPts val="2038"/>
                </a:lnSpc>
              </a:pPr>
              <a:endParaRPr lang="en-US" b="1" dirty="0">
                <a:solidFill>
                  <a:srgbClr val="0D358D"/>
                </a:solidFill>
                <a:latin typeface="+mj-lt"/>
                <a:ea typeface="Aileron Bold"/>
                <a:cs typeface="Aileron Bold"/>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xmlns="" id="{7E9E6C5B-A5C6-680F-EFAE-D542CF58DD1B}"/>
                </a:ext>
              </a:extLst>
            </p:cNvPr>
            <p:cNvPicPr>
              <a:picLocks noChangeAspect="1"/>
            </p:cNvPicPr>
            <p:nvPr/>
          </p:nvPicPr>
          <p:blipFill>
            <a:blip r:embed="rId5"/>
            <a:srcRect l="26859" t="52379" r="26874" b="2349"/>
            <a:stretch>
              <a:fillRect/>
            </a:stretch>
          </p:blipFill>
          <p:spPr>
            <a:xfrm>
              <a:off x="2710862" y="4307522"/>
              <a:ext cx="398279" cy="389719"/>
            </a:xfrm>
            <a:prstGeom prst="rect">
              <a:avLst/>
            </a:prstGeom>
          </p:spPr>
        </p:pic>
      </p:grpSp>
      <p:grpSp>
        <p:nvGrpSpPr>
          <p:cNvPr id="66" name="Group 65">
            <a:extLst>
              <a:ext uri="{FF2B5EF4-FFF2-40B4-BE49-F238E27FC236}">
                <a16:creationId xmlns:a16="http://schemas.microsoft.com/office/drawing/2014/main" xmlns="" id="{989160DC-C3C0-B6C2-B7C6-7BB4689F94A9}"/>
              </a:ext>
            </a:extLst>
          </p:cNvPr>
          <p:cNvGrpSpPr/>
          <p:nvPr/>
        </p:nvGrpSpPr>
        <p:grpSpPr>
          <a:xfrm>
            <a:off x="4823842" y="3813591"/>
            <a:ext cx="2272871" cy="482848"/>
            <a:chOff x="3048823" y="4307306"/>
            <a:chExt cx="2272871" cy="482848"/>
          </a:xfrm>
        </p:grpSpPr>
        <p:sp>
          <p:nvSpPr>
            <p:cNvPr id="67" name="TextBox 41">
              <a:extLst>
                <a:ext uri="{FF2B5EF4-FFF2-40B4-BE49-F238E27FC236}">
                  <a16:creationId xmlns:a16="http://schemas.microsoft.com/office/drawing/2014/main" xmlns="" id="{62360B4B-896B-851F-3E0F-5B4381D9C14E}"/>
                </a:ext>
              </a:extLst>
            </p:cNvPr>
            <p:cNvSpPr txBox="1"/>
            <p:nvPr/>
          </p:nvSpPr>
          <p:spPr>
            <a:xfrm>
              <a:off x="3085585" y="4307306"/>
              <a:ext cx="1809978" cy="154209"/>
            </a:xfrm>
            <a:prstGeom prst="rect">
              <a:avLst/>
            </a:prstGeom>
          </p:spPr>
          <p:txBody>
            <a:bodyPr lIns="0" tIns="0" rIns="0" bIns="0" rtlCol="0" anchor="t">
              <a:spAutoFit/>
            </a:bodyPr>
            <a:lstStyle/>
            <a:p>
              <a:pPr>
                <a:lnSpc>
                  <a:spcPts val="1296"/>
                </a:lnSpc>
              </a:pPr>
              <a:r>
                <a:rPr lang="en-US" sz="1000" dirty="0">
                  <a:latin typeface="Times New Roman" pitchFamily="18" charset="0"/>
                  <a:ea typeface="Aileron"/>
                  <a:cs typeface="Times New Roman" pitchFamily="18" charset="0"/>
                  <a:sym typeface="Aileron"/>
                </a:rPr>
                <a:t>Guide</a:t>
              </a:r>
            </a:p>
          </p:txBody>
        </p:sp>
        <p:sp>
          <p:nvSpPr>
            <p:cNvPr id="68" name="TextBox 43">
              <a:extLst>
                <a:ext uri="{FF2B5EF4-FFF2-40B4-BE49-F238E27FC236}">
                  <a16:creationId xmlns:a16="http://schemas.microsoft.com/office/drawing/2014/main" xmlns="" id="{FB6FAC35-1B51-92AA-1EE8-3B261A88036F}"/>
                </a:ext>
              </a:extLst>
            </p:cNvPr>
            <p:cNvSpPr txBox="1"/>
            <p:nvPr/>
          </p:nvSpPr>
          <p:spPr>
            <a:xfrm>
              <a:off x="3048823" y="4548036"/>
              <a:ext cx="2272871" cy="242118"/>
            </a:xfrm>
            <a:prstGeom prst="rect">
              <a:avLst/>
            </a:prstGeom>
          </p:spPr>
          <p:txBody>
            <a:bodyPr lIns="0" tIns="0" rIns="0" bIns="0" rtlCol="0" anchor="t">
              <a:spAutoFit/>
            </a:bodyPr>
            <a:lstStyle/>
            <a:p>
              <a:pPr>
                <a:lnSpc>
                  <a:spcPts val="2038"/>
                </a:lnSpc>
              </a:pPr>
              <a:r>
                <a:rPr lang="en-US" b="1" dirty="0">
                  <a:solidFill>
                    <a:srgbClr val="0D358D"/>
                  </a:solidFill>
                  <a:latin typeface="Times New Roman" panose="02020603050405020304" pitchFamily="18" charset="0"/>
                  <a:ea typeface="Aileron Bold"/>
                  <a:cs typeface="Times New Roman" panose="02020603050405020304" pitchFamily="18" charset="0"/>
                  <a:sym typeface="Aileron Bold"/>
                </a:rPr>
                <a:t>R.Manoj Kumar (SME)</a:t>
              </a:r>
            </a:p>
          </p:txBody>
        </p:sp>
      </p:grpSp>
      <p:pic>
        <p:nvPicPr>
          <p:cNvPr id="71" name="Picture 70">
            <a:extLst>
              <a:ext uri="{FF2B5EF4-FFF2-40B4-BE49-F238E27FC236}">
                <a16:creationId xmlns:a16="http://schemas.microsoft.com/office/drawing/2014/main" xmlns="" id="{552296CF-6296-621D-F4B7-80B815F56052}"/>
              </a:ext>
            </a:extLst>
          </p:cNvPr>
          <p:cNvPicPr>
            <a:picLocks noChangeAspect="1"/>
          </p:cNvPicPr>
          <p:nvPr/>
        </p:nvPicPr>
        <p:blipFill>
          <a:blip r:embed="rId9"/>
          <a:srcRect l="28109" t="6546" r="28551" b="49509"/>
          <a:stretch>
            <a:fillRect/>
          </a:stretch>
        </p:blipFill>
        <p:spPr>
          <a:xfrm>
            <a:off x="4449719" y="3735423"/>
            <a:ext cx="375815" cy="381063"/>
          </a:xfrm>
          <a:prstGeom prst="rect">
            <a:avLst/>
          </a:prstGeom>
        </p:spPr>
      </p:pic>
      <p:grpSp>
        <p:nvGrpSpPr>
          <p:cNvPr id="74" name="Group 73">
            <a:extLst>
              <a:ext uri="{FF2B5EF4-FFF2-40B4-BE49-F238E27FC236}">
                <a16:creationId xmlns:a16="http://schemas.microsoft.com/office/drawing/2014/main" xmlns="" id="{7EE4957A-5586-BF65-4F43-D6BBAA7E8D26}"/>
              </a:ext>
            </a:extLst>
          </p:cNvPr>
          <p:cNvGrpSpPr/>
          <p:nvPr/>
        </p:nvGrpSpPr>
        <p:grpSpPr>
          <a:xfrm>
            <a:off x="428531" y="723117"/>
            <a:ext cx="3828596" cy="358658"/>
            <a:chOff x="317090" y="723117"/>
            <a:chExt cx="3402811" cy="318771"/>
          </a:xfrm>
        </p:grpSpPr>
        <p:pic>
          <p:nvPicPr>
            <p:cNvPr id="53" name="Picture 52" descr="A close up of a logo&#10;&#10;AI-generated content may be incorrect.">
              <a:extLst>
                <a:ext uri="{FF2B5EF4-FFF2-40B4-BE49-F238E27FC236}">
                  <a16:creationId xmlns:a16="http://schemas.microsoft.com/office/drawing/2014/main" xmlns="" id="{51E43D43-5F83-E033-DAEA-6F93ED19DDF1}"/>
                </a:ext>
              </a:extLst>
            </p:cNvPr>
            <p:cNvPicPr>
              <a:picLocks noChangeAspect="1"/>
            </p:cNvPicPr>
            <p:nvPr/>
          </p:nvPicPr>
          <p:blipFill>
            <a:blip r:embed="rId10"/>
            <a:srcRect t="19648" b="19158"/>
            <a:stretch>
              <a:fillRect/>
            </a:stretch>
          </p:blipFill>
          <p:spPr>
            <a:xfrm>
              <a:off x="317090" y="768985"/>
              <a:ext cx="898442" cy="202049"/>
            </a:xfrm>
            <a:prstGeom prst="rect">
              <a:avLst/>
            </a:prstGeom>
          </p:spPr>
        </p:pic>
        <p:pic>
          <p:nvPicPr>
            <p:cNvPr id="55" name="Picture 54" descr="A blue and black logo&#10;&#10;AI-generated content may be incorrect.">
              <a:extLst>
                <a:ext uri="{FF2B5EF4-FFF2-40B4-BE49-F238E27FC236}">
                  <a16:creationId xmlns:a16="http://schemas.microsoft.com/office/drawing/2014/main" xmlns="" id="{3BBE3A7E-2A3C-8077-3F91-5BBFD7F97488}"/>
                </a:ext>
              </a:extLst>
            </p:cNvPr>
            <p:cNvPicPr>
              <a:picLocks noChangeAspect="1"/>
            </p:cNvPicPr>
            <p:nvPr/>
          </p:nvPicPr>
          <p:blipFill>
            <a:blip r:embed="rId11"/>
            <a:stretch>
              <a:fillRect/>
            </a:stretch>
          </p:blipFill>
          <p:spPr>
            <a:xfrm>
              <a:off x="1284656" y="798128"/>
              <a:ext cx="562495" cy="141182"/>
            </a:xfrm>
            <a:prstGeom prst="rect">
              <a:avLst/>
            </a:prstGeom>
          </p:spPr>
        </p:pic>
        <p:pic>
          <p:nvPicPr>
            <p:cNvPr id="57" name="Picture 56" descr="A close up of a logo&#10;&#10;AI-generated content may be incorrect.">
              <a:extLst>
                <a:ext uri="{FF2B5EF4-FFF2-40B4-BE49-F238E27FC236}">
                  <a16:creationId xmlns:a16="http://schemas.microsoft.com/office/drawing/2014/main" xmlns="" id="{50A97C6C-DFC2-3140-0C76-0FFA851C1169}"/>
                </a:ext>
              </a:extLst>
            </p:cNvPr>
            <p:cNvPicPr>
              <a:picLocks noChangeAspect="1"/>
            </p:cNvPicPr>
            <p:nvPr/>
          </p:nvPicPr>
          <p:blipFill>
            <a:blip r:embed="rId12"/>
            <a:stretch>
              <a:fillRect/>
            </a:stretch>
          </p:blipFill>
          <p:spPr>
            <a:xfrm>
              <a:off x="2636460" y="792102"/>
              <a:ext cx="501675" cy="163167"/>
            </a:xfrm>
            <a:prstGeom prst="rect">
              <a:avLst/>
            </a:prstGeom>
          </p:spPr>
        </p:pic>
        <p:pic>
          <p:nvPicPr>
            <p:cNvPr id="63" name="Picture 62">
              <a:extLst>
                <a:ext uri="{FF2B5EF4-FFF2-40B4-BE49-F238E27FC236}">
                  <a16:creationId xmlns:a16="http://schemas.microsoft.com/office/drawing/2014/main" xmlns="" id="{64405440-5190-BB7E-1D18-69013C3A84C6}"/>
                </a:ext>
              </a:extLst>
            </p:cNvPr>
            <p:cNvPicPr>
              <a:picLocks noChangeAspect="1"/>
            </p:cNvPicPr>
            <p:nvPr/>
          </p:nvPicPr>
          <p:blipFill>
            <a:blip r:embed="rId13"/>
            <a:stretch>
              <a:fillRect/>
            </a:stretch>
          </p:blipFill>
          <p:spPr>
            <a:xfrm>
              <a:off x="3398442" y="792102"/>
              <a:ext cx="321459" cy="164179"/>
            </a:xfrm>
            <a:prstGeom prst="rect">
              <a:avLst/>
            </a:prstGeom>
          </p:spPr>
        </p:pic>
        <p:pic>
          <p:nvPicPr>
            <p:cNvPr id="73" name="Picture 72" descr="A black and white image&#10;&#10;AI-generated content may be incorrect.">
              <a:extLst>
                <a:ext uri="{FF2B5EF4-FFF2-40B4-BE49-F238E27FC236}">
                  <a16:creationId xmlns:a16="http://schemas.microsoft.com/office/drawing/2014/main" xmlns="" id="{7639476C-F768-1393-1AB4-8183D5D0A318}"/>
                </a:ext>
              </a:extLst>
            </p:cNvPr>
            <p:cNvPicPr>
              <a:picLocks noChangeAspect="1"/>
            </p:cNvPicPr>
            <p:nvPr/>
          </p:nvPicPr>
          <p:blipFill>
            <a:blip r:embed="rId14"/>
            <a:srcRect t="19206" b="17252"/>
            <a:stretch>
              <a:fillRect/>
            </a:stretch>
          </p:blipFill>
          <p:spPr>
            <a:xfrm>
              <a:off x="2023625" y="723117"/>
              <a:ext cx="501676" cy="318771"/>
            </a:xfrm>
            <a:prstGeom prst="rect">
              <a:avLst/>
            </a:prstGeom>
          </p:spPr>
        </p:pic>
      </p:grpSp>
      <p:pic>
        <p:nvPicPr>
          <p:cNvPr id="49" name="Picture 48">
            <a:extLst>
              <a:ext uri="{FF2B5EF4-FFF2-40B4-BE49-F238E27FC236}">
                <a16:creationId xmlns:a16="http://schemas.microsoft.com/office/drawing/2014/main" xmlns="" id="{22986C18-ACC6-4E08-B806-80DE68C78552}"/>
              </a:ext>
            </a:extLst>
          </p:cNvPr>
          <p:cNvPicPr>
            <a:picLocks noChangeAspect="1"/>
          </p:cNvPicPr>
          <p:nvPr/>
        </p:nvPicPr>
        <p:blipFill rotWithShape="1">
          <a:blip r:embed="rId15"/>
          <a:srcRect l="47226" t="14487" r="-254" b="11394"/>
          <a:stretch/>
        </p:blipFill>
        <p:spPr>
          <a:xfrm>
            <a:off x="5536752" y="681935"/>
            <a:ext cx="3823476" cy="396875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5" name="TextBox 1174">
            <a:extLst>
              <a:ext uri="{FF2B5EF4-FFF2-40B4-BE49-F238E27FC236}">
                <a16:creationId xmlns:a16="http://schemas.microsoft.com/office/drawing/2014/main" xmlns="" id="{927410B5-1C26-2D39-1160-ABCF2EAFC484}"/>
              </a:ext>
            </a:extLst>
          </p:cNvPr>
          <p:cNvSpPr txBox="1"/>
          <p:nvPr/>
        </p:nvSpPr>
        <p:spPr>
          <a:xfrm>
            <a:off x="88825" y="476733"/>
            <a:ext cx="462421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Times New Roman" pitchFamily="18" charset="0"/>
                <a:cs typeface="Times New Roman" pitchFamily="18" charset="0"/>
              </a:rPr>
              <a:t>OUTLINE</a:t>
            </a:r>
            <a:endParaRPr lang="en-US" sz="2200" b="1"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xmlns="" id="{E1494DD5-904E-76E9-38C0-10A35CC5BDD0}"/>
              </a:ext>
            </a:extLst>
          </p:cNvPr>
          <p:cNvSpPr txBox="1"/>
          <p:nvPr/>
        </p:nvSpPr>
        <p:spPr>
          <a:xfrm>
            <a:off x="125239" y="907620"/>
            <a:ext cx="4446761" cy="4165243"/>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Times New Roman" pitchFamily="18" charset="0"/>
                <a:ea typeface="Times New Roman" panose="02020603050405020304" pitchFamily="18" charset="0"/>
                <a:cs typeface="Times New Roman" pitchFamily="18" charset="0"/>
              </a:rPr>
              <a:t>Abstract of the Project</a:t>
            </a:r>
            <a:endParaRPr lang="en-IN" sz="1800" dirty="0">
              <a:solidFill>
                <a:schemeClr val="tx1"/>
              </a:solidFill>
              <a:latin typeface="Times New Roman" pitchFamily="18" charset="0"/>
              <a:ea typeface="Times New Roman" panose="02020603050405020304" pitchFamily="18" charset="0"/>
              <a:cs typeface="Times New Roman" pitchFamily="18" charset="0"/>
            </a:endParaRPr>
          </a:p>
          <a:p>
            <a:pPr marL="228600" indent="-228600">
              <a:spcAft>
                <a:spcPts val="800"/>
              </a:spcAft>
              <a:buFont typeface="Arial" panose="020B0604020202020204" pitchFamily="34" charset="0"/>
              <a:buChar char="•"/>
              <a:tabLst>
                <a:tab pos="4229100" algn="ctr"/>
              </a:tabLst>
            </a:pPr>
            <a:r>
              <a:rPr lang="en-US" sz="1800" dirty="0">
                <a:latin typeface="Times New Roman" pitchFamily="18" charset="0"/>
                <a:ea typeface="+mn-lt"/>
                <a:cs typeface="Times New Roman" pitchFamily="18"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Times New Roman" pitchFamily="18" charset="0"/>
                <a:ea typeface="+mn-lt"/>
                <a:cs typeface="Times New Roman" pitchFamily="18"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Times New Roman" pitchFamily="18" charset="0"/>
                <a:ea typeface="+mn-lt"/>
                <a:cs typeface="Times New Roman" pitchFamily="18"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Times New Roman" pitchFamily="18" charset="0"/>
                <a:ea typeface="+mn-lt"/>
                <a:cs typeface="Times New Roman" pitchFamily="18" charset="0"/>
              </a:rPr>
              <a:t>Hybrid ML Detection Models</a:t>
            </a:r>
          </a:p>
          <a:p>
            <a:pPr marL="228600" indent="-228600">
              <a:spcAft>
                <a:spcPts val="800"/>
              </a:spcAft>
              <a:buFont typeface="Arial" panose="020B0604020202020204" pitchFamily="34" charset="0"/>
              <a:buChar char="•"/>
              <a:tabLst>
                <a:tab pos="4229100" algn="ctr"/>
              </a:tabLst>
            </a:pPr>
            <a:r>
              <a:rPr lang="en-US" sz="1800" dirty="0">
                <a:latin typeface="Times New Roman" pitchFamily="18" charset="0"/>
                <a:ea typeface="+mn-lt"/>
                <a:cs typeface="Times New Roman" pitchFamily="18"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Times New Roman" pitchFamily="18" charset="0"/>
                <a:ea typeface="+mn-lt"/>
                <a:cs typeface="Times New Roman" pitchFamily="18" charset="0"/>
              </a:rPr>
              <a:t>Embedded Video of Project</a:t>
            </a:r>
          </a:p>
          <a:p>
            <a:pPr marL="228600" indent="-228600">
              <a:spcAft>
                <a:spcPts val="800"/>
              </a:spcAft>
              <a:buFont typeface="Arial" panose="020B0604020202020204" pitchFamily="34" charset="0"/>
              <a:buChar char="•"/>
              <a:tabLst>
                <a:tab pos="4229100" algn="ctr"/>
              </a:tabLst>
            </a:pPr>
            <a:r>
              <a:rPr lang="en-US" sz="1800" dirty="0">
                <a:latin typeface="Times New Roman" pitchFamily="18" charset="0"/>
                <a:ea typeface="+mn-lt"/>
                <a:cs typeface="Times New Roman" pitchFamily="18" charset="0"/>
              </a:rPr>
              <a:t>Performance Evaluation Metrics</a:t>
            </a:r>
          </a:p>
          <a:p>
            <a:pPr marL="228600" indent="-228600">
              <a:spcAft>
                <a:spcPts val="800"/>
              </a:spcAft>
              <a:buFont typeface="Arial" panose="020B0604020202020204" pitchFamily="34" charset="0"/>
              <a:buChar char="•"/>
              <a:tabLst>
                <a:tab pos="4229100" algn="ctr"/>
              </a:tabLst>
            </a:pPr>
            <a:r>
              <a:rPr lang="en-US" sz="1800" dirty="0">
                <a:solidFill>
                  <a:schemeClr val="tx1"/>
                </a:solidFill>
                <a:latin typeface="Times New Roman" pitchFamily="18" charset="0"/>
                <a:cs typeface="Times New Roman" pitchFamily="18" charset="0"/>
              </a:rPr>
              <a:t>Insights And Recommendations</a:t>
            </a:r>
            <a:endParaRPr lang="en-US" sz="1800" dirty="0">
              <a:solidFill>
                <a:schemeClr val="tx1"/>
              </a:solidFill>
              <a:latin typeface="Times New Roman" pitchFamily="18" charset="0"/>
              <a:ea typeface="+mn-lt"/>
              <a:cs typeface="Times New Roman" pitchFamily="18" charset="0"/>
            </a:endParaRPr>
          </a:p>
          <a:p>
            <a:pPr marL="228600" indent="-228600">
              <a:spcAft>
                <a:spcPts val="800"/>
              </a:spcAft>
              <a:buFont typeface="Arial" panose="020B0604020202020204" pitchFamily="34" charset="0"/>
              <a:buChar char="•"/>
              <a:tabLst>
                <a:tab pos="4229100" algn="ctr"/>
              </a:tabLst>
            </a:pPr>
            <a:r>
              <a:rPr lang="en-IN" sz="1800" dirty="0">
                <a:latin typeface="Times New Roman" pitchFamily="18" charset="0"/>
                <a:ea typeface="+mn-lt"/>
                <a:cs typeface="Times New Roman" pitchFamily="18" charset="0"/>
              </a:rPr>
              <a:t>Conclusion</a:t>
            </a:r>
          </a:p>
          <a:p>
            <a:pPr marL="228600" indent="-228600">
              <a:spcAft>
                <a:spcPts val="800"/>
              </a:spcAft>
              <a:buFont typeface="Arial" panose="020B0604020202020204" pitchFamily="34" charset="0"/>
              <a:buChar char="•"/>
              <a:tabLst>
                <a:tab pos="4229100" algn="ctr"/>
              </a:tabLst>
            </a:pPr>
            <a:r>
              <a:rPr lang="en-US" sz="1800" dirty="0">
                <a:latin typeface="Times New Roman" pitchFamily="18" charset="0"/>
                <a:ea typeface="+mn-lt"/>
                <a:cs typeface="Times New Roman" pitchFamily="18" charset="0"/>
              </a:rPr>
              <a:t>Future Scope</a:t>
            </a:r>
          </a:p>
        </p:txBody>
      </p:sp>
    </p:spTree>
    <p:extLst>
      <p:ext uri="{BB962C8B-B14F-4D97-AF65-F5344CB8AC3E}">
        <p14:creationId xmlns:p14="http://schemas.microsoft.com/office/powerpoint/2010/main" xmlns="" val="1253004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F78195-9B03-00E3-45B8-00FA85409CCC}"/>
              </a:ext>
            </a:extLst>
          </p:cNvPr>
          <p:cNvSpPr>
            <a:spLocks noGrp="1"/>
          </p:cNvSpPr>
          <p:nvPr>
            <p:ph type="title" idx="4294967295"/>
          </p:nvPr>
        </p:nvSpPr>
        <p:spPr>
          <a:xfrm>
            <a:off x="311943" y="700731"/>
            <a:ext cx="8520113" cy="3970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Times New Roman" pitchFamily="18" charset="0"/>
                <a:cs typeface="Times New Roman" pitchFamily="18" charset="0"/>
              </a:rPr>
              <a:t>Abstract</a:t>
            </a:r>
            <a:endParaRPr lang="en-IN" sz="2200" b="1" dirty="0">
              <a:solidFill>
                <a:srgbClr val="002060"/>
              </a:solidFill>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xmlns="" id="{61273AE0-6276-1E72-A3CA-E2B90DE65B48}"/>
              </a:ext>
            </a:extLst>
          </p:cNvPr>
          <p:cNvSpPr txBox="1"/>
          <p:nvPr/>
        </p:nvSpPr>
        <p:spPr>
          <a:xfrm>
            <a:off x="430329" y="1309304"/>
            <a:ext cx="8401727" cy="2308324"/>
          </a:xfrm>
          <a:prstGeom prst="rect">
            <a:avLst/>
          </a:prstGeom>
          <a:noFill/>
        </p:spPr>
        <p:txBody>
          <a:bodyPr wrap="square">
            <a:spAutoFit/>
          </a:bodyPr>
          <a:lstStyle/>
          <a:p>
            <a:pPr algn="just">
              <a:spcAft>
                <a:spcPts val="800"/>
              </a:spcAft>
              <a:tabLst>
                <a:tab pos="4229100" algn="ctr"/>
              </a:tabLst>
            </a:pPr>
            <a:r>
              <a:rPr lang="en-US" sz="1600" dirty="0">
                <a:latin typeface="Times New Roman" panose="02020603050405020304" pitchFamily="18" charset="0"/>
                <a:cs typeface="Times New Roman" panose="02020603050405020304" pitchFamily="18" charset="0"/>
              </a:rPr>
              <a:t>This project develops a hybrid ML-based financial fraud detection system using the PaySim dataset.It addresses highly imbalanced, complex, and continuously changing transaction data, where traditional methods may fail to detect evolving fraud patterns and relationships between suspicious accounts. XGBoost detects fraudulent transactions, while transaction graphs and TGN analyze transaction relationships and patterns. SHAP provides explainability, community detection identifies potential fraud rings, and ADWIN detects changing transaction patterns. A hybrid ML system, it detects fraudulent transactions, identifies potential fraud rings, provides explainable predictions, and monitors changing transaction patterns.The results are presented through a Streamlit dashboard for interactive fraud analysis and monitoring.</a:t>
            </a:r>
          </a:p>
        </p:txBody>
      </p:sp>
    </p:spTree>
    <p:extLst>
      <p:ext uri="{BB962C8B-B14F-4D97-AF65-F5344CB8AC3E}">
        <p14:creationId xmlns:p14="http://schemas.microsoft.com/office/powerpoint/2010/main" xmlns="" val="492154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D2E813-CB30-52BE-482F-A822E8D42EA5}"/>
              </a:ext>
            </a:extLst>
          </p:cNvPr>
          <p:cNvSpPr>
            <a:spLocks noGrp="1"/>
          </p:cNvSpPr>
          <p:nvPr>
            <p:ph type="title" idx="4294967295"/>
          </p:nvPr>
        </p:nvSpPr>
        <p:spPr>
          <a:xfrm>
            <a:off x="129985" y="543112"/>
            <a:ext cx="4979897" cy="573088"/>
          </a:xfrm>
          <a:prstGeom prst="rect">
            <a:avLst/>
          </a:prstGeom>
        </p:spPr>
        <p:txBody>
          <a:bodyPr anchor="ctr"/>
          <a:lstStyle/>
          <a:p>
            <a:pPr>
              <a:lnSpc>
                <a:spcPct val="100000"/>
              </a:lnSpc>
            </a:pPr>
            <a:r>
              <a:rPr lang="en-US" sz="2200" b="1" dirty="0">
                <a:solidFill>
                  <a:srgbClr val="002060"/>
                </a:solidFill>
                <a:latin typeface="Times New Roman" pitchFamily="18" charset="0"/>
                <a:cs typeface="Times New Roman" pitchFamily="18" charset="0"/>
              </a:rPr>
              <a:t>Problem</a:t>
            </a:r>
            <a:r>
              <a:rPr lang="en-US" sz="2200" b="1" dirty="0">
                <a:solidFill>
                  <a:schemeClr val="accent1"/>
                </a:solidFill>
                <a:latin typeface="Times New Roman" pitchFamily="18" charset="0"/>
                <a:cs typeface="Times New Roman" pitchFamily="18" charset="0"/>
              </a:rPr>
              <a:t> </a:t>
            </a:r>
            <a:r>
              <a:rPr lang="en-US" sz="2200" b="1" dirty="0">
                <a:solidFill>
                  <a:srgbClr val="002060"/>
                </a:solidFill>
                <a:latin typeface="Times New Roman" pitchFamily="18" charset="0"/>
                <a:cs typeface="Times New Roman" pitchFamily="18" charset="0"/>
              </a:rPr>
              <a:t>Statement</a:t>
            </a:r>
            <a:endParaRPr lang="en-IN" sz="2200" b="1" dirty="0">
              <a:solidFill>
                <a:srgbClr val="002060"/>
              </a:solidFill>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xmlns="" id="{BB7091E3-E2C0-5911-65FA-9EA880BDEFB7}"/>
              </a:ext>
            </a:extLst>
          </p:cNvPr>
          <p:cNvSpPr txBox="1"/>
          <p:nvPr/>
        </p:nvSpPr>
        <p:spPr>
          <a:xfrm>
            <a:off x="125239" y="1104923"/>
            <a:ext cx="4908877" cy="3252172"/>
          </a:xfrm>
          <a:prstGeom prst="rect">
            <a:avLst/>
          </a:prstGeom>
          <a:noFill/>
        </p:spPr>
        <p:txBody>
          <a:bodyPr wrap="square">
            <a:spAutoFit/>
          </a:bodyPr>
          <a:lstStyle/>
          <a:p>
            <a:pPr marL="285750" indent="-285750" algn="just">
              <a:spcAft>
                <a:spcPts val="800"/>
              </a:spcAft>
              <a:buFont typeface="Arial" panose="020B0604020202020204" pitchFamily="34" charset="0"/>
              <a:buChar char="•"/>
              <a:tabLst>
                <a:tab pos="4229100" algn="ctr"/>
              </a:tabLst>
            </a:pPr>
            <a:r>
              <a:rPr lang="en-US" sz="1600" dirty="0">
                <a:latin typeface="Times New Roman" pitchFamily="18" charset="0"/>
                <a:cs typeface="Times New Roman" pitchFamily="18" charset="0"/>
              </a:rPr>
              <a:t>Current fraud detection systems face challenges in accurately identifying fraudulent transactions due to highly imbalanced, complex, and continuously changing financial transaction data.</a:t>
            </a:r>
          </a:p>
          <a:p>
            <a:pPr marL="285750" indent="-285750" algn="just">
              <a:spcAft>
                <a:spcPts val="800"/>
              </a:spcAft>
              <a:buFont typeface="Arial" panose="020B0604020202020204" pitchFamily="34" charset="0"/>
              <a:buChar char="•"/>
              <a:tabLst>
                <a:tab pos="4229100" algn="ctr"/>
              </a:tabLst>
            </a:pPr>
            <a:r>
              <a:rPr lang="en-US" sz="1600" dirty="0">
                <a:latin typeface="Times New Roman" pitchFamily="18" charset="0"/>
                <a:cs typeface="Times New Roman" pitchFamily="18" charset="0"/>
              </a:rPr>
              <a:t>Traditional methods may fail to detect evolving fraud patterns and relationships between suspicious accounts.</a:t>
            </a:r>
          </a:p>
          <a:p>
            <a:pPr marL="285750" indent="-285750" algn="just">
              <a:spcAft>
                <a:spcPts val="800"/>
              </a:spcAft>
              <a:buFont typeface="Arial" panose="020B0604020202020204" pitchFamily="34" charset="0"/>
              <a:buChar char="•"/>
              <a:tabLst>
                <a:tab pos="4229100" algn="ctr"/>
              </a:tabLst>
            </a:pPr>
            <a:r>
              <a:rPr lang="en-US" sz="1600" dirty="0">
                <a:latin typeface="Times New Roman" pitchFamily="18" charset="0"/>
                <a:cs typeface="Times New Roman" pitchFamily="18" charset="0"/>
              </a:rPr>
              <a:t>Therefore, there is a need for a hybrid ML-based system that can detect fraudulent transactions, identify potential fraud rings, provide explainable predictions, and monitor changing transaction patterns.</a:t>
            </a:r>
          </a:p>
        </p:txBody>
      </p:sp>
      <p:pic>
        <p:nvPicPr>
          <p:cNvPr id="7" name="Picture 6">
            <a:extLst>
              <a:ext uri="{FF2B5EF4-FFF2-40B4-BE49-F238E27FC236}">
                <a16:creationId xmlns:a16="http://schemas.microsoft.com/office/drawing/2014/main" xmlns="" id="{A99285DF-4D16-4CBB-B41A-5AF08649142C}"/>
              </a:ext>
            </a:extLst>
          </p:cNvPr>
          <p:cNvPicPr>
            <a:picLocks noChangeAspect="1"/>
          </p:cNvPicPr>
          <p:nvPr/>
        </p:nvPicPr>
        <p:blipFill rotWithShape="1">
          <a:blip r:embed="rId2"/>
          <a:stretch/>
        </p:blipFill>
        <p:spPr>
          <a:xfrm>
            <a:off x="5109882" y="1205373"/>
            <a:ext cx="3858325" cy="2732754"/>
          </a:xfrm>
          <a:prstGeom prst="rect">
            <a:avLst/>
          </a:prstGeom>
        </p:spPr>
      </p:pic>
    </p:spTree>
    <p:extLst>
      <p:ext uri="{BB962C8B-B14F-4D97-AF65-F5344CB8AC3E}">
        <p14:creationId xmlns:p14="http://schemas.microsoft.com/office/powerpoint/2010/main" xmlns="" val="34016959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2F71F941-04C4-254D-BE54-68BE67205FB0}"/>
              </a:ext>
            </a:extLst>
          </p:cNvPr>
          <p:cNvSpPr txBox="1"/>
          <p:nvPr/>
        </p:nvSpPr>
        <p:spPr>
          <a:xfrm>
            <a:off x="327102" y="817756"/>
            <a:ext cx="1082348" cy="369332"/>
          </a:xfrm>
          <a:prstGeom prst="rect">
            <a:avLst/>
          </a:prstGeom>
          <a:noFill/>
        </p:spPr>
        <p:txBody>
          <a:bodyPr wrap="none" rtlCol="0">
            <a:spAutoFit/>
          </a:bodyPr>
          <a:lstStyle/>
          <a:p>
            <a:r>
              <a:rPr lang="en-IN" sz="1800" b="1" dirty="0">
                <a:latin typeface="Times New Roman" panose="02020603050405020304" pitchFamily="18" charset="0"/>
                <a:cs typeface="Times New Roman" panose="02020603050405020304" pitchFamily="18" charset="0"/>
              </a:rPr>
              <a:t>XGBoost</a:t>
            </a:r>
            <a:endParaRPr lang="en-IN" sz="1800" dirty="0"/>
          </a:p>
        </p:txBody>
      </p:sp>
      <p:pic>
        <p:nvPicPr>
          <p:cNvPr id="6" name="Picture 5">
            <a:extLst>
              <a:ext uri="{FF2B5EF4-FFF2-40B4-BE49-F238E27FC236}">
                <a16:creationId xmlns:a16="http://schemas.microsoft.com/office/drawing/2014/main" xmlns="" id="{1383E6DC-DF75-0451-5604-D9B42A99143E}"/>
              </a:ext>
            </a:extLst>
          </p:cNvPr>
          <p:cNvPicPr>
            <a:picLocks noChangeAspect="1"/>
          </p:cNvPicPr>
          <p:nvPr/>
        </p:nvPicPr>
        <p:blipFill>
          <a:blip r:embed="rId2"/>
          <a:stretch>
            <a:fillRect/>
          </a:stretch>
        </p:blipFill>
        <p:spPr>
          <a:xfrm>
            <a:off x="4757858" y="446049"/>
            <a:ext cx="4400279" cy="4505092"/>
          </a:xfrm>
          <a:prstGeom prst="rect">
            <a:avLst/>
          </a:prstGeom>
        </p:spPr>
      </p:pic>
      <p:sp>
        <p:nvSpPr>
          <p:cNvPr id="11" name="TextBox 10">
            <a:extLst>
              <a:ext uri="{FF2B5EF4-FFF2-40B4-BE49-F238E27FC236}">
                <a16:creationId xmlns:a16="http://schemas.microsoft.com/office/drawing/2014/main" xmlns="" id="{E3AB7B66-3539-5975-74DF-588BC8162FA1}"/>
              </a:ext>
            </a:extLst>
          </p:cNvPr>
          <p:cNvSpPr txBox="1"/>
          <p:nvPr/>
        </p:nvSpPr>
        <p:spPr>
          <a:xfrm>
            <a:off x="0" y="1187088"/>
            <a:ext cx="4854498" cy="397031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XGBoost – More Matter for Your Project</a:t>
            </a:r>
          </a:p>
          <a:p>
            <a:r>
              <a:rPr lang="en-IN" b="1" dirty="0">
                <a:latin typeface="Times New Roman" panose="02020603050405020304" pitchFamily="18" charset="0"/>
                <a:cs typeface="Times New Roman" panose="02020603050405020304" pitchFamily="18" charset="0"/>
              </a:rPr>
              <a:t>XGBoost (Extreme Gradient Boosting)</a:t>
            </a:r>
            <a:r>
              <a:rPr lang="en-IN" dirty="0">
                <a:latin typeface="Times New Roman" panose="02020603050405020304" pitchFamily="18" charset="0"/>
                <a:cs typeface="Times New Roman" panose="02020603050405020304" pitchFamily="18" charset="0"/>
              </a:rPr>
              <a:t> is a powerful machine learning algorithm based on decision trees. It is widely used for </a:t>
            </a:r>
            <a:r>
              <a:rPr lang="en-IN" b="1" dirty="0">
                <a:latin typeface="Times New Roman" panose="02020603050405020304" pitchFamily="18" charset="0"/>
                <a:cs typeface="Times New Roman" panose="02020603050405020304" pitchFamily="18" charset="0"/>
              </a:rPr>
              <a:t>classification and prediction problems</a:t>
            </a:r>
            <a:r>
              <a:rPr lang="en-IN" dirty="0">
                <a:latin typeface="Times New Roman" panose="02020603050405020304" pitchFamily="18" charset="0"/>
                <a:cs typeface="Times New Roman" panose="02020603050405020304" pitchFamily="18" charset="0"/>
              </a:rPr>
              <a:t>. In our project, </a:t>
            </a:r>
            <a:r>
              <a:rPr lang="en-IN" b="1" dirty="0">
                <a:latin typeface="Times New Roman" panose="02020603050405020304" pitchFamily="18" charset="0"/>
                <a:cs typeface="Times New Roman" panose="02020603050405020304" pitchFamily="18" charset="0"/>
              </a:rPr>
              <a:t>“Financial Fraud Detection and Transaction Pattern Analysis Using ML,”</a:t>
            </a:r>
            <a:r>
              <a:rPr lang="en-IN" dirty="0">
                <a:latin typeface="Times New Roman" panose="02020603050405020304" pitchFamily="18" charset="0"/>
                <a:cs typeface="Times New Roman" panose="02020603050405020304" pitchFamily="18" charset="0"/>
              </a:rPr>
              <a:t> XGBoost is used to identify whether a financial transaction is </a:t>
            </a:r>
            <a:r>
              <a:rPr lang="en-IN" b="1" dirty="0">
                <a:latin typeface="Times New Roman" panose="02020603050405020304" pitchFamily="18" charset="0"/>
                <a:cs typeface="Times New Roman" panose="02020603050405020304" pitchFamily="18" charset="0"/>
              </a:rPr>
              <a:t>legitimate or fraudulent</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How XGBoost works</a:t>
            </a:r>
          </a:p>
          <a:p>
            <a:r>
              <a:rPr lang="en-IN" dirty="0">
                <a:latin typeface="Times New Roman" panose="02020603050405020304" pitchFamily="18" charset="0"/>
                <a:cs typeface="Times New Roman" panose="02020603050405020304" pitchFamily="18" charset="0"/>
              </a:rPr>
              <a:t>XGBoost builds multiple decision trees sequentially. Each new tree tries to correct the errors made by the previous trees. Finally, the predictions from all trees are combined to produce the final result.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Process: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Transaction Data → Data Preprocessing → Feature Selection → XGBoost Model → Fraud Prediction → Result</a:t>
            </a:r>
          </a:p>
          <a:p>
            <a:endParaRPr lang="en-IN" dirty="0"/>
          </a:p>
        </p:txBody>
      </p:sp>
    </p:spTree>
    <p:extLst>
      <p:ext uri="{BB962C8B-B14F-4D97-AF65-F5344CB8AC3E}">
        <p14:creationId xmlns:p14="http://schemas.microsoft.com/office/powerpoint/2010/main" xmlns="" val="2910835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761C471-E54B-BDBC-7564-51C7EDA45176}"/>
              </a:ext>
            </a:extLst>
          </p:cNvPr>
          <p:cNvSpPr txBox="1"/>
          <p:nvPr/>
        </p:nvSpPr>
        <p:spPr>
          <a:xfrm>
            <a:off x="523057" y="899532"/>
            <a:ext cx="4172937" cy="3031599"/>
          </a:xfrm>
          <a:prstGeom prst="rect">
            <a:avLst/>
          </a:prstGeom>
          <a:noFill/>
        </p:spPr>
        <p:txBody>
          <a:bodyPr wrap="none" rtlCol="0">
            <a:spAutoFit/>
          </a:bodyPr>
          <a:lstStyle/>
          <a:p>
            <a:r>
              <a:rPr lang="en-IN" sz="1600" b="1" dirty="0">
                <a:latin typeface="Times New Roman" panose="02020603050405020304" pitchFamily="18" charset="0"/>
                <a:cs typeface="Times New Roman" panose="02020603050405020304" pitchFamily="18" charset="0"/>
              </a:rPr>
              <a:t>Advantages</a:t>
            </a:r>
          </a:p>
          <a:p>
            <a:endParaRPr lang="en-IN" b="1"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High prediction accuracy</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Handles large datasets efficiently</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Works well with structured/tabular data</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Can handle complex relationships between features</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Provides feature-importance information</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Supports classification and regression</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Includes regularization to reduce overfitting</a:t>
            </a:r>
          </a:p>
          <a:p>
            <a:endParaRPr lang="en-IN" dirty="0"/>
          </a:p>
        </p:txBody>
      </p:sp>
      <p:sp>
        <p:nvSpPr>
          <p:cNvPr id="3" name="TextBox 2">
            <a:extLst>
              <a:ext uri="{FF2B5EF4-FFF2-40B4-BE49-F238E27FC236}">
                <a16:creationId xmlns:a16="http://schemas.microsoft.com/office/drawing/2014/main" xmlns="" id="{55205336-21D9-5B0E-7B15-504F1262EA64}"/>
              </a:ext>
            </a:extLst>
          </p:cNvPr>
          <p:cNvSpPr txBox="1"/>
          <p:nvPr/>
        </p:nvSpPr>
        <p:spPr>
          <a:xfrm>
            <a:off x="4995746" y="832624"/>
            <a:ext cx="3625197" cy="3031599"/>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Disadvantages of XGBoost</a:t>
            </a:r>
          </a:p>
          <a:p>
            <a:endParaRPr lang="en-IN" b="1"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Complex model interpretation</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High memory usage</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Training can be time-consuming</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Sensitive to noisy data</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Not suitable for every type of data</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Requires good-quality features</a:t>
            </a:r>
          </a:p>
          <a:p>
            <a:pPr marL="285750" lvl="0" indent="-285750">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More complex than simple ML algorithms</a:t>
            </a:r>
          </a:p>
          <a:p>
            <a:endParaRPr lang="en-IN" dirty="0"/>
          </a:p>
        </p:txBody>
      </p:sp>
    </p:spTree>
    <p:extLst>
      <p:ext uri="{BB962C8B-B14F-4D97-AF65-F5344CB8AC3E}">
        <p14:creationId xmlns:p14="http://schemas.microsoft.com/office/powerpoint/2010/main" xmlns="" val="39488856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5745DE-B712-F06B-67FA-D3D7D6FBF5DF}"/>
              </a:ext>
            </a:extLst>
          </p:cNvPr>
          <p:cNvSpPr>
            <a:spLocks noGrp="1"/>
          </p:cNvSpPr>
          <p:nvPr>
            <p:ph type="title" idx="4294967295"/>
          </p:nvPr>
        </p:nvSpPr>
        <p:spPr>
          <a:xfrm>
            <a:off x="132939" y="566608"/>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Times New Roman" pitchFamily="18" charset="0"/>
                <a:cs typeface="Times New Roman" pitchFamily="18" charset="0"/>
              </a:rPr>
              <a:t>Proposed Solution</a:t>
            </a:r>
            <a:endParaRPr lang="en-IN" sz="2200" b="1" dirty="0">
              <a:solidFill>
                <a:srgbClr val="002060"/>
              </a:solidFill>
              <a:latin typeface="Times New Roman" pitchFamily="18" charset="0"/>
              <a:cs typeface="Times New Roman" pitchFamily="18" charset="0"/>
            </a:endParaRPr>
          </a:p>
        </p:txBody>
      </p:sp>
      <p:sp>
        <p:nvSpPr>
          <p:cNvPr id="3" name="TextBox 9">
            <a:extLst>
              <a:ext uri="{FF2B5EF4-FFF2-40B4-BE49-F238E27FC236}">
                <a16:creationId xmlns:a16="http://schemas.microsoft.com/office/drawing/2014/main" xmlns="" id="{F696D7B5-5C17-1BAA-5B82-E74A4A7BB590}"/>
              </a:ext>
            </a:extLst>
          </p:cNvPr>
          <p:cNvSpPr txBox="1"/>
          <p:nvPr/>
        </p:nvSpPr>
        <p:spPr>
          <a:xfrm>
            <a:off x="187945" y="963640"/>
            <a:ext cx="4502042" cy="3932372"/>
          </a:xfrm>
          <a:prstGeom prst="rect">
            <a:avLst/>
          </a:prstGeom>
        </p:spPr>
        <p:txBody>
          <a:bodyPr wrap="square" lIns="0" tIns="0" rIns="0" bIns="0" rtlCol="0" anchor="t">
            <a:spAutoFit/>
          </a:bodyPr>
          <a:lstStyle/>
          <a:p>
            <a:pPr algn="just"/>
            <a:r>
              <a:rPr lang="en-IN" sz="1600" dirty="0">
                <a:latin typeface="Times New Roman" panose="02020603050405020304" pitchFamily="18" charset="0"/>
                <a:cs typeface="Times New Roman" panose="02020603050405020304" pitchFamily="18" charset="0"/>
              </a:rPr>
              <a:t>The proposed system is a real-time hybrid ML system that combines multiple techniques for financial fraud detection.</a:t>
            </a:r>
          </a:p>
          <a:p>
            <a:pPr marL="28575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XGBoost: </a:t>
            </a:r>
            <a:r>
              <a:rPr lang="en-IN" sz="1600" dirty="0">
                <a:latin typeface="Times New Roman" panose="02020603050405020304" pitchFamily="18" charset="0"/>
                <a:cs typeface="Times New Roman" panose="02020603050405020304" pitchFamily="18" charset="0"/>
              </a:rPr>
              <a:t>Detects fraudulent transactions.</a:t>
            </a:r>
          </a:p>
          <a:p>
            <a:pPr marL="28575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Transaction Graphs and TGN: </a:t>
            </a:r>
            <a:r>
              <a:rPr lang="en-IN" sz="1600" dirty="0">
                <a:latin typeface="Times New Roman" panose="02020603050405020304" pitchFamily="18" charset="0"/>
                <a:cs typeface="Times New Roman" panose="02020603050405020304" pitchFamily="18" charset="0"/>
              </a:rPr>
              <a:t>Analyze relationships and temporal transaction patterns.</a:t>
            </a:r>
          </a:p>
          <a:p>
            <a:pPr marL="28575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Community Detection and SHAP: </a:t>
            </a:r>
            <a:r>
              <a:rPr lang="en-IN" sz="1600" dirty="0">
                <a:latin typeface="Times New Roman" panose="02020603050405020304" pitchFamily="18" charset="0"/>
                <a:cs typeface="Times New Roman" panose="02020603050405020304" pitchFamily="18" charset="0"/>
              </a:rPr>
              <a:t>Community detection identifies potential fraud rings, while SHAP provides explainable predictions.</a:t>
            </a:r>
          </a:p>
          <a:p>
            <a:pPr marL="28575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ADWIN: </a:t>
            </a:r>
            <a:r>
              <a:rPr lang="en-IN" sz="1600" dirty="0">
                <a:latin typeface="Times New Roman" panose="02020603050405020304" pitchFamily="18" charset="0"/>
                <a:cs typeface="Times New Roman" panose="02020603050405020304" pitchFamily="18" charset="0"/>
              </a:rPr>
              <a:t>Monitors changing transaction patterns.</a:t>
            </a:r>
          </a:p>
          <a:p>
            <a:pPr marL="28575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Streamlit Dashboard: </a:t>
            </a:r>
            <a:r>
              <a:rPr lang="en-IN" sz="1600" dirty="0">
                <a:latin typeface="Times New Roman" panose="02020603050405020304" pitchFamily="18" charset="0"/>
                <a:cs typeface="Times New Roman" panose="02020603050405020304" pitchFamily="18" charset="0"/>
              </a:rPr>
              <a:t>Integrates the results for interactive fraud detection and analysis.</a:t>
            </a:r>
          </a:p>
        </p:txBody>
      </p:sp>
      <p:pic>
        <p:nvPicPr>
          <p:cNvPr id="7" name="Picture 6">
            <a:extLst>
              <a:ext uri="{FF2B5EF4-FFF2-40B4-BE49-F238E27FC236}">
                <a16:creationId xmlns:a16="http://schemas.microsoft.com/office/drawing/2014/main" xmlns="" id="{62A3B745-1088-4CAF-B834-BB759D9433BC}"/>
              </a:ext>
            </a:extLst>
          </p:cNvPr>
          <p:cNvPicPr>
            <a:picLocks noChangeAspect="1"/>
          </p:cNvPicPr>
          <p:nvPr/>
        </p:nvPicPr>
        <p:blipFill rotWithShape="1">
          <a:blip r:embed="rId2"/>
          <a:stretch/>
        </p:blipFill>
        <p:spPr>
          <a:xfrm>
            <a:off x="4797009" y="1203644"/>
            <a:ext cx="4159046" cy="2896407"/>
          </a:xfrm>
          <a:prstGeom prst="rect">
            <a:avLst/>
          </a:prstGeom>
        </p:spPr>
      </p:pic>
    </p:spTree>
    <p:extLst>
      <p:ext uri="{BB962C8B-B14F-4D97-AF65-F5344CB8AC3E}">
        <p14:creationId xmlns:p14="http://schemas.microsoft.com/office/powerpoint/2010/main" xmlns="" val="3754400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xmlns="" id="{6AB8DAF2-B141-0C0D-4015-6BE8A25CFFD1}"/>
              </a:ext>
            </a:extLst>
          </p:cNvPr>
          <p:cNvSpPr>
            <a:spLocks noGrp="1"/>
          </p:cNvSpPr>
          <p:nvPr>
            <p:ph type="title" idx="4294967295"/>
          </p:nvPr>
        </p:nvSpPr>
        <p:spPr>
          <a:xfrm>
            <a:off x="134473" y="641727"/>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Times New Roman" pitchFamily="18" charset="0"/>
                <a:cs typeface="Times New Roman" pitchFamily="18" charset="0"/>
              </a:rPr>
              <a:t>System Architecture</a:t>
            </a:r>
          </a:p>
        </p:txBody>
      </p:sp>
      <p:grpSp>
        <p:nvGrpSpPr>
          <p:cNvPr id="19" name="Group 18">
            <a:extLst>
              <a:ext uri="{FF2B5EF4-FFF2-40B4-BE49-F238E27FC236}">
                <a16:creationId xmlns:a16="http://schemas.microsoft.com/office/drawing/2014/main" xmlns="" id="{4BFA17DF-DB6B-A9B7-3C1C-B774489AAA47}"/>
              </a:ext>
            </a:extLst>
          </p:cNvPr>
          <p:cNvGrpSpPr/>
          <p:nvPr/>
        </p:nvGrpSpPr>
        <p:grpSpPr>
          <a:xfrm>
            <a:off x="247366" y="1352549"/>
            <a:ext cx="3510776" cy="578231"/>
            <a:chOff x="228601" y="3204060"/>
            <a:chExt cx="3276599" cy="578231"/>
          </a:xfrm>
        </p:grpSpPr>
        <p:grpSp>
          <p:nvGrpSpPr>
            <p:cNvPr id="14" name="Group 6">
              <a:extLst>
                <a:ext uri="{FF2B5EF4-FFF2-40B4-BE49-F238E27FC236}">
                  <a16:creationId xmlns:a16="http://schemas.microsoft.com/office/drawing/2014/main" xmlns="" id="{6A3E6A5A-5275-7251-67F1-486E3DEF3DF9}"/>
                </a:ext>
              </a:extLst>
            </p:cNvPr>
            <p:cNvGrpSpPr/>
            <p:nvPr/>
          </p:nvGrpSpPr>
          <p:grpSpPr>
            <a:xfrm>
              <a:off x="228601" y="3204060"/>
              <a:ext cx="3276599" cy="578231"/>
              <a:chOff x="0" y="0"/>
              <a:chExt cx="3519337" cy="406400"/>
            </a:xfrm>
          </p:grpSpPr>
          <p:sp>
            <p:nvSpPr>
              <p:cNvPr id="15" name="Freeform 7">
                <a:extLst>
                  <a:ext uri="{FF2B5EF4-FFF2-40B4-BE49-F238E27FC236}">
                    <a16:creationId xmlns:a16="http://schemas.microsoft.com/office/drawing/2014/main" xmlns="" id="{472B53EE-BC89-5C43-69EF-8B69CC03AFB7}"/>
                  </a:ext>
                </a:extLst>
              </p:cNvPr>
              <p:cNvSpPr/>
              <p:nvPr/>
            </p:nvSpPr>
            <p:spPr>
              <a:xfrm>
                <a:off x="0" y="0"/>
                <a:ext cx="3519338" cy="406400"/>
              </a:xfrm>
              <a:custGeom>
                <a:avLst/>
                <a:gdLst/>
                <a:ahLst/>
                <a:cxnLst/>
                <a:rect l="l" t="t" r="r" b="b"/>
                <a:pathLst>
                  <a:path w="3519338" h="406400">
                    <a:moveTo>
                      <a:pt x="3316138" y="0"/>
                    </a:moveTo>
                    <a:lnTo>
                      <a:pt x="0" y="0"/>
                    </a:lnTo>
                    <a:lnTo>
                      <a:pt x="0" y="406400"/>
                    </a:lnTo>
                    <a:lnTo>
                      <a:pt x="3316138" y="406400"/>
                    </a:lnTo>
                    <a:lnTo>
                      <a:pt x="3519338" y="203200"/>
                    </a:lnTo>
                    <a:lnTo>
                      <a:pt x="3316138" y="0"/>
                    </a:lnTo>
                    <a:close/>
                  </a:path>
                </a:pathLst>
              </a:custGeom>
              <a:gradFill rotWithShape="1">
                <a:gsLst>
                  <a:gs pos="0">
                    <a:srgbClr val="042882">
                      <a:alpha val="100000"/>
                    </a:srgbClr>
                  </a:gs>
                  <a:gs pos="100000">
                    <a:srgbClr val="2A83D0">
                      <a:alpha val="100000"/>
                    </a:srgbClr>
                  </a:gs>
                </a:gsLst>
                <a:lin ang="0"/>
              </a:gradFill>
            </p:spPr>
            <p:txBody>
              <a:bodyPr/>
              <a:lstStyle/>
              <a:p>
                <a:endParaRPr lang="en-IN" dirty="0"/>
              </a:p>
            </p:txBody>
          </p:sp>
          <p:sp>
            <p:nvSpPr>
              <p:cNvPr id="16" name="TextBox 8">
                <a:extLst>
                  <a:ext uri="{FF2B5EF4-FFF2-40B4-BE49-F238E27FC236}">
                    <a16:creationId xmlns:a16="http://schemas.microsoft.com/office/drawing/2014/main" xmlns="" id="{116AE792-6FAB-8AAE-38F8-9DA0CFF5D047}"/>
                  </a:ext>
                </a:extLst>
              </p:cNvPr>
              <p:cNvSpPr txBox="1"/>
              <p:nvPr/>
            </p:nvSpPr>
            <p:spPr>
              <a:xfrm>
                <a:off x="0" y="-38100"/>
                <a:ext cx="3405037" cy="444500"/>
              </a:xfrm>
              <a:prstGeom prst="rect">
                <a:avLst/>
              </a:prstGeom>
            </p:spPr>
            <p:txBody>
              <a:bodyPr lIns="44454" tIns="44454" rIns="44454" bIns="44454" rtlCol="0" anchor="ctr"/>
              <a:lstStyle/>
              <a:p>
                <a:pPr>
                  <a:lnSpc>
                    <a:spcPts val="2659"/>
                  </a:lnSpc>
                </a:pPr>
                <a:endParaRPr/>
              </a:p>
            </p:txBody>
          </p:sp>
        </p:grpSp>
        <p:sp>
          <p:nvSpPr>
            <p:cNvPr id="17" name="TextBox 12">
              <a:extLst>
                <a:ext uri="{FF2B5EF4-FFF2-40B4-BE49-F238E27FC236}">
                  <a16:creationId xmlns:a16="http://schemas.microsoft.com/office/drawing/2014/main" xmlns="" id="{89FD2EAC-A8E7-5820-F446-4F8349F1A434}"/>
                </a:ext>
              </a:extLst>
            </p:cNvPr>
            <p:cNvSpPr txBox="1"/>
            <p:nvPr/>
          </p:nvSpPr>
          <p:spPr>
            <a:xfrm>
              <a:off x="396077" y="3216176"/>
              <a:ext cx="2901299" cy="553998"/>
            </a:xfrm>
            <a:prstGeom prst="rect">
              <a:avLst/>
            </a:prstGeom>
          </p:spPr>
          <p:txBody>
            <a:bodyPr wrap="square" lIns="0" tIns="0" rIns="0" bIns="0" rtlCol="0" anchor="ctr">
              <a:spAutoFit/>
            </a:bodyPr>
            <a:lstStyle/>
            <a:p>
              <a:r>
                <a:rPr lang="en-IN" sz="1800" b="1" dirty="0">
                  <a:solidFill>
                    <a:schemeClr val="bg1"/>
                  </a:solidFill>
                  <a:latin typeface="Times New Roman" panose="02020603050405020304" pitchFamily="18" charset="0"/>
                  <a:cs typeface="Times New Roman" panose="02020603050405020304" pitchFamily="18" charset="0"/>
                </a:rPr>
                <a:t>Data Processing Module</a:t>
              </a:r>
              <a:endParaRPr lang="en-US" sz="1800" b="1" dirty="0">
                <a:solidFill>
                  <a:schemeClr val="bg1"/>
                </a:solidFill>
                <a:latin typeface="Times New Roman" panose="02020603050405020304" pitchFamily="18" charset="0"/>
                <a:ea typeface="Aileron Bold"/>
                <a:cs typeface="Times New Roman" panose="02020603050405020304" pitchFamily="18" charset="0"/>
                <a:sym typeface="Aileron Bold"/>
              </a:endParaRPr>
            </a:p>
          </p:txBody>
        </p:sp>
      </p:grpSp>
      <p:grpSp>
        <p:nvGrpSpPr>
          <p:cNvPr id="20" name="Group 19">
            <a:extLst>
              <a:ext uri="{FF2B5EF4-FFF2-40B4-BE49-F238E27FC236}">
                <a16:creationId xmlns:a16="http://schemas.microsoft.com/office/drawing/2014/main" xmlns="" id="{9C601ECB-F8CA-B185-38D0-811F7EED4080}"/>
              </a:ext>
            </a:extLst>
          </p:cNvPr>
          <p:cNvGrpSpPr/>
          <p:nvPr/>
        </p:nvGrpSpPr>
        <p:grpSpPr>
          <a:xfrm>
            <a:off x="228599" y="3045579"/>
            <a:ext cx="3592550" cy="578231"/>
            <a:chOff x="228601" y="3204060"/>
            <a:chExt cx="3276599" cy="578231"/>
          </a:xfrm>
        </p:grpSpPr>
        <p:grpSp>
          <p:nvGrpSpPr>
            <p:cNvPr id="21" name="Group 6">
              <a:extLst>
                <a:ext uri="{FF2B5EF4-FFF2-40B4-BE49-F238E27FC236}">
                  <a16:creationId xmlns:a16="http://schemas.microsoft.com/office/drawing/2014/main" xmlns="" id="{9B559D6B-09E7-F108-1CB1-94F3AB41B9F6}"/>
                </a:ext>
              </a:extLst>
            </p:cNvPr>
            <p:cNvGrpSpPr/>
            <p:nvPr/>
          </p:nvGrpSpPr>
          <p:grpSpPr>
            <a:xfrm>
              <a:off x="228601" y="3204060"/>
              <a:ext cx="3276599" cy="578231"/>
              <a:chOff x="0" y="0"/>
              <a:chExt cx="3519337" cy="406400"/>
            </a:xfrm>
          </p:grpSpPr>
          <p:sp>
            <p:nvSpPr>
              <p:cNvPr id="23" name="Freeform 7">
                <a:extLst>
                  <a:ext uri="{FF2B5EF4-FFF2-40B4-BE49-F238E27FC236}">
                    <a16:creationId xmlns:a16="http://schemas.microsoft.com/office/drawing/2014/main" xmlns="" id="{47536054-5A32-6D90-F432-1B0885234078}"/>
                  </a:ext>
                </a:extLst>
              </p:cNvPr>
              <p:cNvSpPr/>
              <p:nvPr/>
            </p:nvSpPr>
            <p:spPr>
              <a:xfrm>
                <a:off x="0" y="0"/>
                <a:ext cx="3519338" cy="406400"/>
              </a:xfrm>
              <a:custGeom>
                <a:avLst/>
                <a:gdLst/>
                <a:ahLst/>
                <a:cxnLst/>
                <a:rect l="l" t="t" r="r" b="b"/>
                <a:pathLst>
                  <a:path w="3519338" h="406400">
                    <a:moveTo>
                      <a:pt x="3316138" y="0"/>
                    </a:moveTo>
                    <a:lnTo>
                      <a:pt x="0" y="0"/>
                    </a:lnTo>
                    <a:lnTo>
                      <a:pt x="0" y="406400"/>
                    </a:lnTo>
                    <a:lnTo>
                      <a:pt x="3316138" y="406400"/>
                    </a:lnTo>
                    <a:lnTo>
                      <a:pt x="3519338" y="203200"/>
                    </a:lnTo>
                    <a:lnTo>
                      <a:pt x="3316138" y="0"/>
                    </a:lnTo>
                    <a:close/>
                  </a:path>
                </a:pathLst>
              </a:custGeom>
              <a:gradFill rotWithShape="1">
                <a:gsLst>
                  <a:gs pos="0">
                    <a:srgbClr val="042882">
                      <a:alpha val="100000"/>
                    </a:srgbClr>
                  </a:gs>
                  <a:gs pos="100000">
                    <a:srgbClr val="2A83D0">
                      <a:alpha val="100000"/>
                    </a:srgbClr>
                  </a:gs>
                </a:gsLst>
                <a:lin ang="0"/>
              </a:gradFill>
            </p:spPr>
            <p:txBody>
              <a:bodyPr/>
              <a:lstStyle/>
              <a:p>
                <a:endParaRPr lang="en-IN" dirty="0"/>
              </a:p>
            </p:txBody>
          </p:sp>
          <p:sp>
            <p:nvSpPr>
              <p:cNvPr id="24" name="TextBox 8">
                <a:extLst>
                  <a:ext uri="{FF2B5EF4-FFF2-40B4-BE49-F238E27FC236}">
                    <a16:creationId xmlns:a16="http://schemas.microsoft.com/office/drawing/2014/main" xmlns="" id="{FE32BA77-C875-CF4C-076A-B38701B54947}"/>
                  </a:ext>
                </a:extLst>
              </p:cNvPr>
              <p:cNvSpPr txBox="1"/>
              <p:nvPr/>
            </p:nvSpPr>
            <p:spPr>
              <a:xfrm>
                <a:off x="0" y="-38100"/>
                <a:ext cx="3405037" cy="444500"/>
              </a:xfrm>
              <a:prstGeom prst="rect">
                <a:avLst/>
              </a:prstGeom>
            </p:spPr>
            <p:txBody>
              <a:bodyPr lIns="44454" tIns="44454" rIns="44454" bIns="44454" rtlCol="0" anchor="ctr"/>
              <a:lstStyle/>
              <a:p>
                <a:pPr>
                  <a:lnSpc>
                    <a:spcPts val="2659"/>
                  </a:lnSpc>
                </a:pPr>
                <a:endParaRPr/>
              </a:p>
            </p:txBody>
          </p:sp>
        </p:grpSp>
        <p:sp>
          <p:nvSpPr>
            <p:cNvPr id="22" name="TextBox 12">
              <a:extLst>
                <a:ext uri="{FF2B5EF4-FFF2-40B4-BE49-F238E27FC236}">
                  <a16:creationId xmlns:a16="http://schemas.microsoft.com/office/drawing/2014/main" xmlns="" id="{55301A74-173D-B0CA-E62A-F3B16E5F2F22}"/>
                </a:ext>
              </a:extLst>
            </p:cNvPr>
            <p:cNvSpPr txBox="1"/>
            <p:nvPr/>
          </p:nvSpPr>
          <p:spPr>
            <a:xfrm>
              <a:off x="396077" y="3216177"/>
              <a:ext cx="2901299" cy="553998"/>
            </a:xfrm>
            <a:prstGeom prst="rect">
              <a:avLst/>
            </a:prstGeom>
          </p:spPr>
          <p:txBody>
            <a:bodyPr wrap="square" lIns="0" tIns="0" rIns="0" bIns="0" rtlCol="0" anchor="ctr">
              <a:spAutoFit/>
            </a:bodyPr>
            <a:lstStyle/>
            <a:p>
              <a:r>
                <a:rPr lang="en-IN" sz="1800" b="1" dirty="0">
                  <a:solidFill>
                    <a:schemeClr val="bg1"/>
                  </a:solidFill>
                  <a:latin typeface="Times New Roman" panose="02020603050405020304" pitchFamily="18" charset="0"/>
                  <a:cs typeface="Times New Roman" panose="02020603050405020304" pitchFamily="18" charset="0"/>
                </a:rPr>
                <a:t>Graph Analysis Module</a:t>
              </a:r>
              <a:endParaRPr lang="en-US" sz="1800" b="1" dirty="0">
                <a:solidFill>
                  <a:schemeClr val="bg1"/>
                </a:solidFill>
                <a:latin typeface="Times New Roman" panose="02020603050405020304" pitchFamily="18" charset="0"/>
                <a:ea typeface="Aileron Bold"/>
                <a:cs typeface="Times New Roman" panose="02020603050405020304" pitchFamily="18" charset="0"/>
                <a:sym typeface="Aileron Bold"/>
              </a:endParaRPr>
            </a:p>
          </p:txBody>
        </p:sp>
      </p:grpSp>
      <p:grpSp>
        <p:nvGrpSpPr>
          <p:cNvPr id="2" name="Group 1">
            <a:extLst>
              <a:ext uri="{FF2B5EF4-FFF2-40B4-BE49-F238E27FC236}">
                <a16:creationId xmlns:a16="http://schemas.microsoft.com/office/drawing/2014/main" xmlns="" id="{64C61F7D-443C-7692-0A0E-872DE7C807D1}"/>
              </a:ext>
            </a:extLst>
          </p:cNvPr>
          <p:cNvGrpSpPr/>
          <p:nvPr/>
        </p:nvGrpSpPr>
        <p:grpSpPr>
          <a:xfrm>
            <a:off x="4684058" y="1352550"/>
            <a:ext cx="3276599" cy="578231"/>
            <a:chOff x="228601" y="3204060"/>
            <a:chExt cx="3276599" cy="578231"/>
          </a:xfrm>
        </p:grpSpPr>
        <p:grpSp>
          <p:nvGrpSpPr>
            <p:cNvPr id="4" name="Group 6">
              <a:extLst>
                <a:ext uri="{FF2B5EF4-FFF2-40B4-BE49-F238E27FC236}">
                  <a16:creationId xmlns:a16="http://schemas.microsoft.com/office/drawing/2014/main" xmlns="" id="{928FF229-4171-B566-17B0-8A2B2C2DD5A0}"/>
                </a:ext>
              </a:extLst>
            </p:cNvPr>
            <p:cNvGrpSpPr/>
            <p:nvPr/>
          </p:nvGrpSpPr>
          <p:grpSpPr>
            <a:xfrm>
              <a:off x="228601" y="3204060"/>
              <a:ext cx="3276599" cy="578231"/>
              <a:chOff x="0" y="0"/>
              <a:chExt cx="3519337" cy="406400"/>
            </a:xfrm>
          </p:grpSpPr>
          <p:sp>
            <p:nvSpPr>
              <p:cNvPr id="6" name="Freeform 7">
                <a:extLst>
                  <a:ext uri="{FF2B5EF4-FFF2-40B4-BE49-F238E27FC236}">
                    <a16:creationId xmlns:a16="http://schemas.microsoft.com/office/drawing/2014/main" xmlns="" id="{D566B714-0EBD-78B7-B5EB-2FB5C7D6E70C}"/>
                  </a:ext>
                </a:extLst>
              </p:cNvPr>
              <p:cNvSpPr/>
              <p:nvPr/>
            </p:nvSpPr>
            <p:spPr>
              <a:xfrm>
                <a:off x="0" y="0"/>
                <a:ext cx="3519338" cy="406400"/>
              </a:xfrm>
              <a:custGeom>
                <a:avLst/>
                <a:gdLst/>
                <a:ahLst/>
                <a:cxnLst/>
                <a:rect l="l" t="t" r="r" b="b"/>
                <a:pathLst>
                  <a:path w="3519338" h="406400">
                    <a:moveTo>
                      <a:pt x="3316138" y="0"/>
                    </a:moveTo>
                    <a:lnTo>
                      <a:pt x="0" y="0"/>
                    </a:lnTo>
                    <a:lnTo>
                      <a:pt x="0" y="406400"/>
                    </a:lnTo>
                    <a:lnTo>
                      <a:pt x="3316138" y="406400"/>
                    </a:lnTo>
                    <a:lnTo>
                      <a:pt x="3519338" y="203200"/>
                    </a:lnTo>
                    <a:lnTo>
                      <a:pt x="3316138" y="0"/>
                    </a:lnTo>
                    <a:close/>
                  </a:path>
                </a:pathLst>
              </a:custGeom>
              <a:gradFill rotWithShape="1">
                <a:gsLst>
                  <a:gs pos="0">
                    <a:srgbClr val="042882">
                      <a:alpha val="100000"/>
                    </a:srgbClr>
                  </a:gs>
                  <a:gs pos="100000">
                    <a:srgbClr val="2A83D0">
                      <a:alpha val="100000"/>
                    </a:srgbClr>
                  </a:gs>
                </a:gsLst>
                <a:lin ang="0"/>
              </a:gradFill>
            </p:spPr>
            <p:txBody>
              <a:bodyPr/>
              <a:lstStyle/>
              <a:p>
                <a:endParaRPr lang="en-IN" dirty="0"/>
              </a:p>
            </p:txBody>
          </p:sp>
          <p:sp>
            <p:nvSpPr>
              <p:cNvPr id="7" name="TextBox 8">
                <a:extLst>
                  <a:ext uri="{FF2B5EF4-FFF2-40B4-BE49-F238E27FC236}">
                    <a16:creationId xmlns:a16="http://schemas.microsoft.com/office/drawing/2014/main" xmlns="" id="{16DBD3A9-6CFE-46BD-473F-0A3BA9B4CB85}"/>
                  </a:ext>
                </a:extLst>
              </p:cNvPr>
              <p:cNvSpPr txBox="1"/>
              <p:nvPr/>
            </p:nvSpPr>
            <p:spPr>
              <a:xfrm>
                <a:off x="0" y="-38100"/>
                <a:ext cx="3405037" cy="444500"/>
              </a:xfrm>
              <a:prstGeom prst="rect">
                <a:avLst/>
              </a:prstGeom>
            </p:spPr>
            <p:txBody>
              <a:bodyPr lIns="44454" tIns="44454" rIns="44454" bIns="44454" rtlCol="0" anchor="ctr"/>
              <a:lstStyle/>
              <a:p>
                <a:pPr>
                  <a:lnSpc>
                    <a:spcPts val="2659"/>
                  </a:lnSpc>
                </a:pPr>
                <a:endParaRPr/>
              </a:p>
            </p:txBody>
          </p:sp>
        </p:grpSp>
        <p:sp>
          <p:nvSpPr>
            <p:cNvPr id="5" name="TextBox 12">
              <a:extLst>
                <a:ext uri="{FF2B5EF4-FFF2-40B4-BE49-F238E27FC236}">
                  <a16:creationId xmlns:a16="http://schemas.microsoft.com/office/drawing/2014/main" xmlns="" id="{539498B0-76D1-B3BB-ADE8-BF3F9959B5D9}"/>
                </a:ext>
              </a:extLst>
            </p:cNvPr>
            <p:cNvSpPr txBox="1"/>
            <p:nvPr/>
          </p:nvSpPr>
          <p:spPr>
            <a:xfrm>
              <a:off x="396077" y="3354676"/>
              <a:ext cx="2901299" cy="276999"/>
            </a:xfrm>
            <a:prstGeom prst="rect">
              <a:avLst/>
            </a:prstGeom>
          </p:spPr>
          <p:txBody>
            <a:bodyPr wrap="square" lIns="0" tIns="0" rIns="0" bIns="0" rtlCol="0" anchor="ctr">
              <a:spAutoFit/>
            </a:bodyPr>
            <a:lstStyle/>
            <a:p>
              <a:r>
                <a:rPr lang="en-IN" sz="1800" b="1" dirty="0">
                  <a:solidFill>
                    <a:schemeClr val="bg1"/>
                  </a:solidFill>
                  <a:latin typeface="Times New Roman" panose="02020603050405020304" pitchFamily="18" charset="0"/>
                  <a:cs typeface="Times New Roman" panose="02020603050405020304" pitchFamily="18" charset="0"/>
                </a:rPr>
                <a:t>Fraud Detection Module</a:t>
              </a:r>
              <a:endParaRPr lang="en-US" sz="1800" b="1" dirty="0">
                <a:solidFill>
                  <a:schemeClr val="bg1"/>
                </a:solidFill>
                <a:latin typeface="Times New Roman" panose="02020603050405020304" pitchFamily="18" charset="0"/>
                <a:ea typeface="Aileron Bold"/>
                <a:cs typeface="Times New Roman" panose="02020603050405020304" pitchFamily="18" charset="0"/>
                <a:sym typeface="Aileron Bold"/>
              </a:endParaRPr>
            </a:p>
          </p:txBody>
        </p:sp>
      </p:grpSp>
      <p:grpSp>
        <p:nvGrpSpPr>
          <p:cNvPr id="8" name="Group 7">
            <a:extLst>
              <a:ext uri="{FF2B5EF4-FFF2-40B4-BE49-F238E27FC236}">
                <a16:creationId xmlns:a16="http://schemas.microsoft.com/office/drawing/2014/main" xmlns="" id="{6716B80F-11FB-30C8-BC1A-F79CE73288D5}"/>
              </a:ext>
            </a:extLst>
          </p:cNvPr>
          <p:cNvGrpSpPr/>
          <p:nvPr/>
        </p:nvGrpSpPr>
        <p:grpSpPr>
          <a:xfrm>
            <a:off x="4684059" y="3072461"/>
            <a:ext cx="3276599" cy="578231"/>
            <a:chOff x="228601" y="3204060"/>
            <a:chExt cx="3276599" cy="578231"/>
          </a:xfrm>
        </p:grpSpPr>
        <p:grpSp>
          <p:nvGrpSpPr>
            <p:cNvPr id="9" name="Group 6">
              <a:extLst>
                <a:ext uri="{FF2B5EF4-FFF2-40B4-BE49-F238E27FC236}">
                  <a16:creationId xmlns:a16="http://schemas.microsoft.com/office/drawing/2014/main" xmlns="" id="{157F1834-4A39-0C3A-5BFD-CC66CA4D1785}"/>
                </a:ext>
              </a:extLst>
            </p:cNvPr>
            <p:cNvGrpSpPr/>
            <p:nvPr/>
          </p:nvGrpSpPr>
          <p:grpSpPr>
            <a:xfrm>
              <a:off x="228601" y="3204060"/>
              <a:ext cx="3276599" cy="578231"/>
              <a:chOff x="0" y="0"/>
              <a:chExt cx="3519337" cy="406400"/>
            </a:xfrm>
          </p:grpSpPr>
          <p:sp>
            <p:nvSpPr>
              <p:cNvPr id="11" name="Freeform 7">
                <a:extLst>
                  <a:ext uri="{FF2B5EF4-FFF2-40B4-BE49-F238E27FC236}">
                    <a16:creationId xmlns:a16="http://schemas.microsoft.com/office/drawing/2014/main" xmlns="" id="{18E9245C-EED9-D74E-90FC-25858FB10CDB}"/>
                  </a:ext>
                </a:extLst>
              </p:cNvPr>
              <p:cNvSpPr/>
              <p:nvPr/>
            </p:nvSpPr>
            <p:spPr>
              <a:xfrm>
                <a:off x="0" y="0"/>
                <a:ext cx="3519338" cy="406400"/>
              </a:xfrm>
              <a:custGeom>
                <a:avLst/>
                <a:gdLst/>
                <a:ahLst/>
                <a:cxnLst/>
                <a:rect l="l" t="t" r="r" b="b"/>
                <a:pathLst>
                  <a:path w="3519338" h="406400">
                    <a:moveTo>
                      <a:pt x="3316138" y="0"/>
                    </a:moveTo>
                    <a:lnTo>
                      <a:pt x="0" y="0"/>
                    </a:lnTo>
                    <a:lnTo>
                      <a:pt x="0" y="406400"/>
                    </a:lnTo>
                    <a:lnTo>
                      <a:pt x="3316138" y="406400"/>
                    </a:lnTo>
                    <a:lnTo>
                      <a:pt x="3519338" y="203200"/>
                    </a:lnTo>
                    <a:lnTo>
                      <a:pt x="3316138" y="0"/>
                    </a:lnTo>
                    <a:close/>
                  </a:path>
                </a:pathLst>
              </a:custGeom>
              <a:gradFill rotWithShape="1">
                <a:gsLst>
                  <a:gs pos="0">
                    <a:srgbClr val="042882">
                      <a:alpha val="100000"/>
                    </a:srgbClr>
                  </a:gs>
                  <a:gs pos="100000">
                    <a:srgbClr val="2A83D0">
                      <a:alpha val="100000"/>
                    </a:srgbClr>
                  </a:gs>
                </a:gsLst>
                <a:lin ang="0"/>
              </a:gradFill>
            </p:spPr>
            <p:txBody>
              <a:bodyPr/>
              <a:lstStyle/>
              <a:p>
                <a:endParaRPr lang="en-IN" dirty="0"/>
              </a:p>
            </p:txBody>
          </p:sp>
          <p:sp>
            <p:nvSpPr>
              <p:cNvPr id="12" name="TextBox 8">
                <a:extLst>
                  <a:ext uri="{FF2B5EF4-FFF2-40B4-BE49-F238E27FC236}">
                    <a16:creationId xmlns:a16="http://schemas.microsoft.com/office/drawing/2014/main" xmlns="" id="{499F88EC-8C73-1D9E-BA9E-F3641368175D}"/>
                  </a:ext>
                </a:extLst>
              </p:cNvPr>
              <p:cNvSpPr txBox="1"/>
              <p:nvPr/>
            </p:nvSpPr>
            <p:spPr>
              <a:xfrm>
                <a:off x="0" y="-38100"/>
                <a:ext cx="3405037" cy="444500"/>
              </a:xfrm>
              <a:prstGeom prst="rect">
                <a:avLst/>
              </a:prstGeom>
            </p:spPr>
            <p:txBody>
              <a:bodyPr lIns="44454" tIns="44454" rIns="44454" bIns="44454" rtlCol="0" anchor="ctr"/>
              <a:lstStyle/>
              <a:p>
                <a:pPr>
                  <a:lnSpc>
                    <a:spcPts val="2659"/>
                  </a:lnSpc>
                </a:pPr>
                <a:endParaRPr/>
              </a:p>
            </p:txBody>
          </p:sp>
        </p:grpSp>
        <p:sp>
          <p:nvSpPr>
            <p:cNvPr id="10" name="TextBox 12">
              <a:extLst>
                <a:ext uri="{FF2B5EF4-FFF2-40B4-BE49-F238E27FC236}">
                  <a16:creationId xmlns:a16="http://schemas.microsoft.com/office/drawing/2014/main" xmlns="" id="{B43E647E-8449-E435-8D9E-490A962A99C6}"/>
                </a:ext>
              </a:extLst>
            </p:cNvPr>
            <p:cNvSpPr txBox="1"/>
            <p:nvPr/>
          </p:nvSpPr>
          <p:spPr>
            <a:xfrm>
              <a:off x="396077" y="3216176"/>
              <a:ext cx="2901299" cy="553998"/>
            </a:xfrm>
            <a:prstGeom prst="rect">
              <a:avLst/>
            </a:prstGeom>
          </p:spPr>
          <p:txBody>
            <a:bodyPr wrap="square" lIns="0" tIns="0" rIns="0" bIns="0" rtlCol="0" anchor="ctr">
              <a:spAutoFit/>
            </a:bodyPr>
            <a:lstStyle/>
            <a:p>
              <a:r>
                <a:rPr lang="en-IN" sz="1800" b="1" dirty="0">
                  <a:solidFill>
                    <a:schemeClr val="bg1"/>
                  </a:solidFill>
                  <a:latin typeface="Times New Roman" panose="02020603050405020304" pitchFamily="18" charset="0"/>
                  <a:cs typeface="Times New Roman" panose="02020603050405020304" pitchFamily="18" charset="0"/>
                </a:rPr>
                <a:t>Explainability &amp; Monitoring Module</a:t>
              </a:r>
              <a:endParaRPr lang="en-US" sz="1800" b="1" dirty="0">
                <a:solidFill>
                  <a:schemeClr val="bg1"/>
                </a:solidFill>
                <a:latin typeface="Times New Roman" panose="02020603050405020304" pitchFamily="18" charset="0"/>
                <a:ea typeface="Aileron Bold"/>
                <a:cs typeface="Times New Roman" panose="02020603050405020304" pitchFamily="18" charset="0"/>
                <a:sym typeface="Aileron Bold"/>
              </a:endParaRPr>
            </a:p>
          </p:txBody>
        </p:sp>
      </p:grpSp>
      <p:sp>
        <p:nvSpPr>
          <p:cNvPr id="34" name="TextBox 3">
            <a:extLst>
              <a:ext uri="{FF2B5EF4-FFF2-40B4-BE49-F238E27FC236}">
                <a16:creationId xmlns:a16="http://schemas.microsoft.com/office/drawing/2014/main" xmlns="" id="{D535B14B-4029-0A46-E652-7CC1F9C2B466}"/>
              </a:ext>
            </a:extLst>
          </p:cNvPr>
          <p:cNvSpPr txBox="1"/>
          <p:nvPr/>
        </p:nvSpPr>
        <p:spPr>
          <a:xfrm>
            <a:off x="228602" y="2079493"/>
            <a:ext cx="3510778" cy="769441"/>
          </a:xfrm>
          <a:prstGeom prst="rect">
            <a:avLst/>
          </a:prstGeom>
        </p:spPr>
        <p:txBody>
          <a:bodyPr wrap="square" lIns="0" tIns="0" rIns="0" bIns="0" rtlCol="0" anchor="t">
            <a:spAutoFit/>
          </a:bodyPr>
          <a:lstStyle/>
          <a:p>
            <a:pPr>
              <a:spcAft>
                <a:spcPts val="800"/>
              </a:spcAft>
            </a:pPr>
            <a:r>
              <a:rPr lang="en-US" sz="1600" dirty="0">
                <a:latin typeface="Times New Roman" panose="02020603050405020304" pitchFamily="18" charset="0"/>
                <a:cs typeface="Times New Roman" panose="02020603050405020304" pitchFamily="18" charset="0"/>
              </a:rPr>
              <a:t>Prepares the PaySim transaction data and features for model training and analysis.</a:t>
            </a:r>
            <a:endParaRPr lang="en-US" sz="1800" dirty="0">
              <a:solidFill>
                <a:srgbClr val="000000"/>
              </a:solidFill>
              <a:latin typeface="Arial" panose="020B0604020202020204" pitchFamily="34" charset="0"/>
              <a:ea typeface="Aileron"/>
              <a:cs typeface="Arial" panose="020B0604020202020204" pitchFamily="34" charset="0"/>
              <a:sym typeface="Aileron"/>
            </a:endParaRPr>
          </a:p>
        </p:txBody>
      </p:sp>
      <p:sp>
        <p:nvSpPr>
          <p:cNvPr id="35" name="TextBox 3">
            <a:extLst>
              <a:ext uri="{FF2B5EF4-FFF2-40B4-BE49-F238E27FC236}">
                <a16:creationId xmlns:a16="http://schemas.microsoft.com/office/drawing/2014/main" xmlns="" id="{328774C6-95E5-6905-31F2-FFF68CABBBE1}"/>
              </a:ext>
            </a:extLst>
          </p:cNvPr>
          <p:cNvSpPr txBox="1"/>
          <p:nvPr/>
        </p:nvSpPr>
        <p:spPr>
          <a:xfrm>
            <a:off x="4684059" y="2079493"/>
            <a:ext cx="3276600" cy="492443"/>
          </a:xfrm>
          <a:prstGeom prst="rect">
            <a:avLst/>
          </a:prstGeom>
        </p:spPr>
        <p:txBody>
          <a:bodyPr wrap="square" lIns="0" tIns="0" rIns="0" bIns="0" rtlCol="0" anchor="t">
            <a:spAutoFit/>
          </a:bodyPr>
          <a:lstStyle/>
          <a:p>
            <a:pPr>
              <a:spcAft>
                <a:spcPts val="800"/>
              </a:spcAft>
            </a:pPr>
            <a:r>
              <a:rPr lang="en-US" sz="1600" dirty="0">
                <a:latin typeface="Times New Roman" panose="02020603050405020304" pitchFamily="18" charset="0"/>
                <a:cs typeface="Times New Roman" panose="02020603050405020304" pitchFamily="18" charset="0"/>
              </a:rPr>
              <a:t>XGBoost classifies each transaction as fraudulent or legitimate.</a:t>
            </a:r>
            <a:endParaRPr lang="en-US" sz="1600" dirty="0">
              <a:latin typeface="Times New Roman" panose="02020603050405020304" pitchFamily="18" charset="0"/>
              <a:ea typeface="Aileron"/>
              <a:cs typeface="Times New Roman" panose="02020603050405020304" pitchFamily="18" charset="0"/>
              <a:sym typeface="Aileron"/>
            </a:endParaRPr>
          </a:p>
        </p:txBody>
      </p:sp>
      <p:sp>
        <p:nvSpPr>
          <p:cNvPr id="36" name="TextBox 3">
            <a:extLst>
              <a:ext uri="{FF2B5EF4-FFF2-40B4-BE49-F238E27FC236}">
                <a16:creationId xmlns:a16="http://schemas.microsoft.com/office/drawing/2014/main" xmlns="" id="{49B6689E-F1B4-7F06-6584-1754AFFD2CD2}"/>
              </a:ext>
            </a:extLst>
          </p:cNvPr>
          <p:cNvSpPr txBox="1"/>
          <p:nvPr/>
        </p:nvSpPr>
        <p:spPr>
          <a:xfrm>
            <a:off x="228599" y="3758544"/>
            <a:ext cx="3529544" cy="492443"/>
          </a:xfrm>
          <a:prstGeom prst="rect">
            <a:avLst/>
          </a:prstGeom>
        </p:spPr>
        <p:txBody>
          <a:bodyPr wrap="square" lIns="0" tIns="0" rIns="0" bIns="0" rtlCol="0" anchor="t">
            <a:spAutoFit/>
          </a:bodyPr>
          <a:lstStyle/>
          <a:p>
            <a:pPr>
              <a:spcAft>
                <a:spcPts val="800"/>
              </a:spcAft>
            </a:pPr>
            <a:r>
              <a:rPr lang="en-US" sz="1600" dirty="0">
                <a:latin typeface="Times New Roman" panose="02020603050405020304" pitchFamily="18" charset="0"/>
                <a:cs typeface="Times New Roman" panose="02020603050405020304" pitchFamily="18" charset="0"/>
              </a:rPr>
              <a:t>Builds transaction graphs, applies TGN, and uses community detection to identify potential fraud rings.</a:t>
            </a:r>
            <a:endParaRPr lang="en-US" sz="1600" dirty="0">
              <a:solidFill>
                <a:srgbClr val="000000"/>
              </a:solidFill>
              <a:latin typeface="Times New Roman" panose="02020603050405020304" pitchFamily="18" charset="0"/>
              <a:ea typeface="Aileron"/>
              <a:cs typeface="Times New Roman" panose="02020603050405020304" pitchFamily="18" charset="0"/>
              <a:sym typeface="Aileron"/>
            </a:endParaRPr>
          </a:p>
        </p:txBody>
      </p:sp>
      <p:sp>
        <p:nvSpPr>
          <p:cNvPr id="37" name="TextBox 3">
            <a:extLst>
              <a:ext uri="{FF2B5EF4-FFF2-40B4-BE49-F238E27FC236}">
                <a16:creationId xmlns:a16="http://schemas.microsoft.com/office/drawing/2014/main" xmlns="" id="{699250B3-69CE-FCCF-3F54-F4326C18C7D7}"/>
              </a:ext>
            </a:extLst>
          </p:cNvPr>
          <p:cNvSpPr txBox="1"/>
          <p:nvPr/>
        </p:nvSpPr>
        <p:spPr>
          <a:xfrm>
            <a:off x="4684058" y="3758544"/>
            <a:ext cx="3170183" cy="738664"/>
          </a:xfrm>
          <a:prstGeom prst="rect">
            <a:avLst/>
          </a:prstGeom>
        </p:spPr>
        <p:txBody>
          <a:bodyPr wrap="square" lIns="0" tIns="0" rIns="0" bIns="0" rtlCol="0" anchor="t">
            <a:spAutoFit/>
          </a:bodyPr>
          <a:lstStyle/>
          <a:p>
            <a:pPr>
              <a:spcAft>
                <a:spcPts val="800"/>
              </a:spcAft>
            </a:pPr>
            <a:r>
              <a:rPr lang="en-US" sz="1600" dirty="0">
                <a:latin typeface="Times New Roman" panose="02020603050405020304" pitchFamily="18" charset="0"/>
                <a:cs typeface="Times New Roman" panose="02020603050405020304" pitchFamily="18" charset="0"/>
              </a:rPr>
              <a:t>SHAP explains predictions, ADWIN detects changing patterns, and the Streamlit dashboard presents the results.</a:t>
            </a:r>
            <a:endParaRPr lang="en-US" sz="1600" dirty="0">
              <a:latin typeface="Times New Roman" panose="02020603050405020304" pitchFamily="18" charset="0"/>
              <a:ea typeface="Aileron"/>
              <a:cs typeface="Times New Roman" panose="02020603050405020304" pitchFamily="18" charset="0"/>
              <a:sym typeface="Aileron"/>
            </a:endParaRPr>
          </a:p>
        </p:txBody>
      </p:sp>
    </p:spTree>
    <p:extLst>
      <p:ext uri="{BB962C8B-B14F-4D97-AF65-F5344CB8AC3E}">
        <p14:creationId xmlns:p14="http://schemas.microsoft.com/office/powerpoint/2010/main" xmlns="" val="1673681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433A248D-0CFC-44EC-B40A-592D7D4029F8}"/>
              </a:ext>
            </a:extLst>
          </p:cNvPr>
          <p:cNvSpPr>
            <a:spLocks noChangeArrowheads="1"/>
          </p:cNvSpPr>
          <p:nvPr/>
        </p:nvSpPr>
        <p:spPr bwMode="auto">
          <a:xfrm>
            <a:off x="0" y="959306"/>
            <a:ext cx="184731" cy="430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xmlns="" id="{85C2A9A8-666A-4898-9C5C-10FDAD5A15DF}"/>
              </a:ext>
            </a:extLst>
          </p:cNvPr>
          <p:cNvSpPr txBox="1"/>
          <p:nvPr/>
        </p:nvSpPr>
        <p:spPr>
          <a:xfrm>
            <a:off x="238736" y="988516"/>
            <a:ext cx="8313174" cy="2800767"/>
          </a:xfrm>
          <a:prstGeom prst="rect">
            <a:avLst/>
          </a:prstGeom>
          <a:noFill/>
        </p:spPr>
        <p:txBody>
          <a:bodyPr wrap="square">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detection system is a hybrid ML pipeline built on the PaySim dataset. It combines XGBoost for fraud classification with graph-based analysis of transaction relationships and patterns, along with explainability and drift monitoring.</a:t>
            </a:r>
          </a:p>
          <a:p>
            <a:pPr algn="just"/>
            <a:r>
              <a:rPr lang="en-US" sz="1600" b="1" dirty="0">
                <a:latin typeface="Times New Roman" panose="02020603050405020304" pitchFamily="18" charset="0"/>
                <a:cs typeface="Times New Roman" panose="02020603050405020304" pitchFamily="18" charset="0"/>
              </a:rPr>
              <a:t> Components of the Hybrid Detection System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XGBoost Classifier: </a:t>
            </a:r>
            <a:r>
              <a:rPr lang="en-US" sz="1600" dirty="0">
                <a:latin typeface="Times New Roman" panose="02020603050405020304" pitchFamily="18" charset="0"/>
                <a:cs typeface="Times New Roman" panose="02020603050405020304" pitchFamily="18" charset="0"/>
              </a:rPr>
              <a:t>Detects fraudulent transactions from transaction features.</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Transaction Graph: </a:t>
            </a:r>
            <a:r>
              <a:rPr lang="en-US" sz="1600" dirty="0">
                <a:latin typeface="Times New Roman" panose="02020603050405020304" pitchFamily="18" charset="0"/>
                <a:cs typeface="Times New Roman" panose="02020603050405020304" pitchFamily="18" charset="0"/>
              </a:rPr>
              <a:t>Represents accounts and transactions as a graph to capture relationships between them.</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TGN (Temporal Graph Network): </a:t>
            </a:r>
            <a:r>
              <a:rPr lang="en-US" sz="1600" dirty="0">
                <a:latin typeface="Times New Roman" panose="02020603050405020304" pitchFamily="18" charset="0"/>
                <a:cs typeface="Times New Roman" panose="02020603050405020304" pitchFamily="18" charset="0"/>
              </a:rPr>
              <a:t>Analyzes temporal transaction patterns and how account relationships change over time.</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Community Detection: </a:t>
            </a:r>
            <a:r>
              <a:rPr lang="en-US" sz="1600" dirty="0">
                <a:latin typeface="Times New Roman" panose="02020603050405020304" pitchFamily="18" charset="0"/>
                <a:cs typeface="Times New Roman" panose="02020603050405020304" pitchFamily="18" charset="0"/>
              </a:rPr>
              <a:t>Groups closely connected accounts to identify potential fraud rings.</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SHAP: </a:t>
            </a:r>
            <a:r>
              <a:rPr lang="en-US" sz="1600" dirty="0">
                <a:latin typeface="Times New Roman" panose="02020603050405020304" pitchFamily="18" charset="0"/>
                <a:cs typeface="Times New Roman" panose="02020603050405020304" pitchFamily="18" charset="0"/>
              </a:rPr>
              <a:t>Explains each prediction by showing which features contributed to it.</a:t>
            </a:r>
          </a:p>
        </p:txBody>
      </p:sp>
      <p:sp>
        <p:nvSpPr>
          <p:cNvPr id="4" name="Title 4">
            <a:extLst>
              <a:ext uri="{FF2B5EF4-FFF2-40B4-BE49-F238E27FC236}">
                <a16:creationId xmlns:a16="http://schemas.microsoft.com/office/drawing/2014/main" xmlns="" id="{C85CF3AF-7964-4E5F-835D-F2384556F6B7}"/>
              </a:ext>
            </a:extLst>
          </p:cNvPr>
          <p:cNvSpPr txBox="1">
            <a:spLocks/>
          </p:cNvSpPr>
          <p:nvPr/>
        </p:nvSpPr>
        <p:spPr>
          <a:xfrm>
            <a:off x="134473" y="562274"/>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buClrTx/>
              <a:buFontTx/>
            </a:pPr>
            <a:r>
              <a:rPr lang="en-US" sz="2200" b="1" dirty="0">
                <a:solidFill>
                  <a:srgbClr val="002060"/>
                </a:solidFill>
                <a:latin typeface="Times New Roman" pitchFamily="18" charset="0"/>
                <a:cs typeface="Times New Roman" pitchFamily="18" charset="0"/>
              </a:rPr>
              <a:t>HYBRID ML DETECTION MODELS</a:t>
            </a:r>
          </a:p>
        </p:txBody>
      </p:sp>
    </p:spTree>
    <p:extLst>
      <p:ext uri="{BB962C8B-B14F-4D97-AF65-F5344CB8AC3E}">
        <p14:creationId xmlns:p14="http://schemas.microsoft.com/office/powerpoint/2010/main" xmlns="" val="22481137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0E810BB0-20BA-4A87-A7CD-306569254204}"/>
              </a:ext>
            </a:extLst>
          </p:cNvPr>
          <p:cNvSpPr>
            <a:spLocks noChangeArrowheads="1"/>
          </p:cNvSpPr>
          <p:nvPr/>
        </p:nvSpPr>
        <p:spPr bwMode="auto">
          <a:xfrm>
            <a:off x="260555" y="592767"/>
            <a:ext cx="8205019" cy="15388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ADWIN: </a:t>
            </a:r>
            <a:r>
              <a:rPr lang="en-US" sz="1600" dirty="0">
                <a:latin typeface="Times New Roman" panose="02020603050405020304" pitchFamily="18" charset="0"/>
                <a:cs typeface="Times New Roman" panose="02020603050405020304" pitchFamily="18" charset="0"/>
              </a:rPr>
              <a:t>Adaptive Windowing monitors the transaction stream and detects changing transaction patterns.</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Streamlit Dashboard: </a:t>
            </a:r>
            <a:r>
              <a:rPr lang="en-US" sz="1600" dirty="0">
                <a:latin typeface="Times New Roman" panose="02020603050405020304" pitchFamily="18" charset="0"/>
                <a:cs typeface="Times New Roman" panose="02020603050405020304" pitchFamily="18" charset="0"/>
              </a:rPr>
              <a:t>Integrates the results for interactive fraud analysis and monitoring.</a:t>
            </a:r>
          </a:p>
        </p:txBody>
      </p:sp>
      <p:pic>
        <p:nvPicPr>
          <p:cNvPr id="4" name="Picture 3">
            <a:extLst>
              <a:ext uri="{FF2B5EF4-FFF2-40B4-BE49-F238E27FC236}">
                <a16:creationId xmlns:a16="http://schemas.microsoft.com/office/drawing/2014/main" xmlns="" id="{FD30A215-F06D-4581-9EAC-866FA4CF0482}"/>
              </a:ext>
            </a:extLst>
          </p:cNvPr>
          <p:cNvPicPr>
            <a:picLocks noChangeAspect="1"/>
          </p:cNvPicPr>
          <p:nvPr/>
        </p:nvPicPr>
        <p:blipFill>
          <a:blip r:embed="rId2"/>
          <a:stretch>
            <a:fillRect/>
          </a:stretch>
        </p:blipFill>
        <p:spPr>
          <a:xfrm>
            <a:off x="2156000" y="1900000"/>
            <a:ext cx="4832000" cy="2952000"/>
          </a:xfrm>
          <a:prstGeom prst="rect">
            <a:avLst/>
          </a:prstGeom>
        </p:spPr>
      </p:pic>
    </p:spTree>
    <p:extLst>
      <p:ext uri="{BB962C8B-B14F-4D97-AF65-F5344CB8AC3E}">
        <p14:creationId xmlns:p14="http://schemas.microsoft.com/office/powerpoint/2010/main" xmlns="" val="27940082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394855"/>
            <a:ext cx="4756775" cy="461665"/>
          </a:xfrm>
          <a:prstGeom prst="rect">
            <a:avLst/>
          </a:prstGeom>
          <a:noFill/>
        </p:spPr>
        <p:txBody>
          <a:bodyPr wrap="square" rtlCol="0">
            <a:spAutoFit/>
          </a:bodyPr>
          <a:lstStyle/>
          <a:p>
            <a:r>
              <a:rPr lang="en-US" sz="2400" dirty="0" smtClean="0">
                <a:latin typeface="Times New Roman" pitchFamily="18" charset="0"/>
                <a:cs typeface="Times New Roman" pitchFamily="18" charset="0"/>
              </a:rPr>
              <a:t>  </a:t>
            </a:r>
            <a:r>
              <a:rPr lang="en-US" sz="2400" dirty="0" smtClean="0">
                <a:solidFill>
                  <a:schemeClr val="accent1"/>
                </a:solidFill>
                <a:latin typeface="Times New Roman" pitchFamily="18" charset="0"/>
                <a:cs typeface="Times New Roman" pitchFamily="18" charset="0"/>
              </a:rPr>
              <a:t>LIVE DEMO OF PROJECT</a:t>
            </a:r>
            <a:endParaRPr lang="en-US" sz="2400" dirty="0">
              <a:solidFill>
                <a:schemeClr val="accent1"/>
              </a:solidFill>
              <a:latin typeface="Times New Roman" pitchFamily="18" charset="0"/>
              <a:cs typeface="Times New Roman" pitchFamily="18" charset="0"/>
            </a:endParaRPr>
          </a:p>
        </p:txBody>
      </p:sp>
      <p:pic>
        <p:nvPicPr>
          <p:cNvPr id="5" name="Home and 3 more pages - Profile 1 - Microsoft​ Edge 2026-10-05 11-51-54.mp4">
            <a:hlinkClick r:id="" action="ppaction://media"/>
          </p:cNvPr>
          <p:cNvPicPr>
            <a:picLocks noRot="1" noChangeAspect="1"/>
          </p:cNvPicPr>
          <p:nvPr>
            <a:videoFile r:link="rId1"/>
          </p:nvPr>
        </p:nvPicPr>
        <p:blipFill>
          <a:blip r:embed="rId3"/>
          <a:stretch>
            <a:fillRect/>
          </a:stretch>
        </p:blipFill>
        <p:spPr>
          <a:xfrm>
            <a:off x="187037" y="1075458"/>
            <a:ext cx="8801099" cy="3714751"/>
          </a:xfrm>
          <a:prstGeom prst="rect">
            <a:avLst/>
          </a:prstGeom>
        </p:spPr>
      </p:pic>
    </p:spTree>
    <p:extLst>
      <p:ext uri="{BB962C8B-B14F-4D97-AF65-F5344CB8AC3E}">
        <p14:creationId xmlns:p14="http://schemas.microsoft.com/office/powerpoint/2010/main" xmlns="" val="309892715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p:cTn id="7" fill="hold" display="0">
                  <p:stCondLst>
                    <p:cond delay="indefinite"/>
                  </p:stCondLst>
                  <p:endCondLst>
                    <p:cond evt="onNext" delay="0">
                      <p:tgtEl>
                        <p:sldTgt/>
                      </p:tgtEl>
                    </p:cond>
                    <p:cond evt="onPrev" delay="0">
                      <p:tgtEl>
                        <p:sldTgt/>
                      </p:tgtEl>
                    </p:cond>
                  </p:endCondLst>
                </p:cTn>
                <p:tgtEl>
                  <p:spTgt spid="5"/>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xmlns="" id="{B7521BFF-5FDA-42C3-B23C-1FFD359F3213}"/>
              </a:ext>
            </a:extLst>
          </p:cNvPr>
          <p:cNvSpPr txBox="1">
            <a:spLocks/>
          </p:cNvSpPr>
          <p:nvPr/>
        </p:nvSpPr>
        <p:spPr>
          <a:xfrm>
            <a:off x="311150" y="477636"/>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buClrTx/>
              <a:buFontTx/>
            </a:pPr>
            <a:r>
              <a:rPr lang="en-US" sz="2200" b="1" dirty="0">
                <a:solidFill>
                  <a:srgbClr val="002060"/>
                </a:solidFill>
                <a:latin typeface="Times New Roman" pitchFamily="18" charset="0"/>
                <a:cs typeface="Times New Roman" pitchFamily="18" charset="0"/>
              </a:rPr>
              <a:t>Performance Evaluation Metrics</a:t>
            </a:r>
          </a:p>
        </p:txBody>
      </p:sp>
      <p:sp>
        <p:nvSpPr>
          <p:cNvPr id="4" name="Rectangle 3">
            <a:extLst>
              <a:ext uri="{FF2B5EF4-FFF2-40B4-BE49-F238E27FC236}">
                <a16:creationId xmlns:a16="http://schemas.microsoft.com/office/drawing/2014/main" xmlns="" id="{F9D64D35-E89A-4EEE-8C44-0C959BD6DDB4}"/>
              </a:ext>
            </a:extLst>
          </p:cNvPr>
          <p:cNvSpPr>
            <a:spLocks noChangeArrowheads="1"/>
          </p:cNvSpPr>
          <p:nvPr/>
        </p:nvSpPr>
        <p:spPr bwMode="auto">
          <a:xfrm>
            <a:off x="311150" y="1348236"/>
            <a:ext cx="8205019" cy="418576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b="1" dirty="0">
                <a:latin typeface="Times New Roman" panose="02020603050405020304" pitchFamily="18" charset="0"/>
                <a:cs typeface="Times New Roman" panose="02020603050405020304" pitchFamily="18" charset="0"/>
              </a:rPr>
              <a:t>1. Precision: </a:t>
            </a:r>
            <a:r>
              <a:rPr lang="en-US" sz="1600" dirty="0">
                <a:latin typeface="Times New Roman" panose="02020603050405020304" pitchFamily="18" charset="0"/>
                <a:cs typeface="Times New Roman" panose="02020603050405020304" pitchFamily="18" charset="0"/>
              </a:rPr>
              <a:t>Shows how many transactions flagged as fraud are actually fraudulent.</a:t>
            </a: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a:t>
            </a:r>
          </a:p>
          <a:p>
            <a:endParaRPr lang="en-US"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2. Recall: </a:t>
            </a:r>
            <a:r>
              <a:rPr lang="en-US" sz="1600" dirty="0">
                <a:latin typeface="Times New Roman" panose="02020603050405020304" pitchFamily="18" charset="0"/>
                <a:cs typeface="Times New Roman" panose="02020603050405020304" pitchFamily="18" charset="0"/>
              </a:rPr>
              <a:t>Shows how many of the actual fraudulent transactions the model successfully detects.</a:t>
            </a:r>
            <a:endParaRPr lang="en-IN" sz="1600"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altLang="en-US" sz="16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D3CA1FC1-6F86-404F-827C-449F599F584B}"/>
              </a:ext>
            </a:extLst>
          </p:cNvPr>
          <p:cNvPicPr>
            <a:picLocks noChangeAspect="1"/>
          </p:cNvPicPr>
          <p:nvPr/>
        </p:nvPicPr>
        <p:blipFill rotWithShape="1">
          <a:blip r:embed="rId2"/>
          <a:stretch/>
        </p:blipFill>
        <p:spPr>
          <a:xfrm>
            <a:off x="2037773" y="1584519"/>
            <a:ext cx="3184402" cy="1383030"/>
          </a:xfrm>
          <a:prstGeom prst="rect">
            <a:avLst/>
          </a:prstGeom>
        </p:spPr>
      </p:pic>
      <p:pic>
        <p:nvPicPr>
          <p:cNvPr id="8" name="Picture 7">
            <a:extLst>
              <a:ext uri="{FF2B5EF4-FFF2-40B4-BE49-F238E27FC236}">
                <a16:creationId xmlns:a16="http://schemas.microsoft.com/office/drawing/2014/main" xmlns="" id="{274CBBEF-8724-40C5-AC4E-7B054E5C74D0}"/>
              </a:ext>
            </a:extLst>
          </p:cNvPr>
          <p:cNvPicPr>
            <a:picLocks noChangeAspect="1"/>
          </p:cNvPicPr>
          <p:nvPr/>
        </p:nvPicPr>
        <p:blipFill rotWithShape="1">
          <a:blip r:embed="rId3"/>
          <a:stretch/>
        </p:blipFill>
        <p:spPr>
          <a:xfrm>
            <a:off x="1804028" y="3441117"/>
            <a:ext cx="3651893" cy="1515211"/>
          </a:xfrm>
          <a:prstGeom prst="rect">
            <a:avLst/>
          </a:prstGeom>
        </p:spPr>
      </p:pic>
    </p:spTree>
    <p:extLst>
      <p:ext uri="{BB962C8B-B14F-4D97-AF65-F5344CB8AC3E}">
        <p14:creationId xmlns:p14="http://schemas.microsoft.com/office/powerpoint/2010/main" xmlns="" val="298884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433A248D-0CFC-44EC-B40A-592D7D4029F8}"/>
              </a:ext>
            </a:extLst>
          </p:cNvPr>
          <p:cNvSpPr>
            <a:spLocks noChangeArrowheads="1"/>
          </p:cNvSpPr>
          <p:nvPr/>
        </p:nvSpPr>
        <p:spPr bwMode="auto">
          <a:xfrm>
            <a:off x="0" y="959306"/>
            <a:ext cx="184731" cy="430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xmlns="" id="{85C2A9A8-666A-4898-9C5C-10FDAD5A15DF}"/>
              </a:ext>
            </a:extLst>
          </p:cNvPr>
          <p:cNvSpPr txBox="1"/>
          <p:nvPr/>
        </p:nvSpPr>
        <p:spPr>
          <a:xfrm>
            <a:off x="238736" y="959306"/>
            <a:ext cx="8379238" cy="3170099"/>
          </a:xfrm>
          <a:prstGeom prst="rect">
            <a:avLst/>
          </a:prstGeom>
          <a:noFill/>
        </p:spPr>
        <p:txBody>
          <a:bodyPr wrap="square">
            <a:spAutoFit/>
          </a:bodyPr>
          <a:lstStyle/>
          <a:p>
            <a:pPr algn="just"/>
            <a:r>
              <a:rPr lang="en-IN" sz="1600" b="1" dirty="0">
                <a:latin typeface="Times New Roman" panose="02020603050405020304" pitchFamily="18" charset="0"/>
                <a:cs typeface="Times New Roman" panose="02020603050405020304" pitchFamily="18" charset="0"/>
              </a:rPr>
              <a:t>3. F1-Score: </a:t>
            </a:r>
            <a:r>
              <a:rPr lang="en-US" sz="1600" dirty="0">
                <a:latin typeface="Times New Roman" panose="02020603050405020304" pitchFamily="18" charset="0"/>
                <a:cs typeface="Times New Roman" panose="02020603050405020304" pitchFamily="18" charset="0"/>
              </a:rPr>
              <a:t>Harmonic mean of precision and recall, giving a balanced measure on highly imbalanced fraud data.</a:t>
            </a:r>
            <a:endParaRPr lang="en-US" sz="1600" b="1"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r>
              <a:rPr lang="en-IN" sz="1600" b="1" dirty="0">
                <a:latin typeface="Times New Roman" panose="02020603050405020304" pitchFamily="18" charset="0"/>
                <a:cs typeface="Times New Roman" panose="02020603050405020304" pitchFamily="18" charset="0"/>
              </a:rPr>
              <a:t>4. PR-AUC: </a:t>
            </a:r>
            <a:r>
              <a:rPr lang="en-US" sz="1600" dirty="0">
                <a:latin typeface="Times New Roman" panose="02020603050405020304" pitchFamily="18" charset="0"/>
                <a:cs typeface="Times New Roman" panose="02020603050405020304" pitchFamily="18" charset="0"/>
              </a:rPr>
              <a:t>Area under the precision-recall curve; summarizes performance on the rare fraud class.</a:t>
            </a:r>
          </a:p>
          <a:p>
            <a:pPr algn="just"/>
            <a:endParaRPr lang="en-US" sz="1600" b="1"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826AC2C6-F233-4DAB-BA72-8B69BBCC300C}"/>
              </a:ext>
            </a:extLst>
          </p:cNvPr>
          <p:cNvPicPr>
            <a:picLocks noChangeAspect="1"/>
          </p:cNvPicPr>
          <p:nvPr/>
        </p:nvPicPr>
        <p:blipFill rotWithShape="1">
          <a:blip r:embed="rId2"/>
          <a:stretch/>
        </p:blipFill>
        <p:spPr>
          <a:xfrm>
            <a:off x="1297858" y="1600000"/>
            <a:ext cx="5536026" cy="659833"/>
          </a:xfrm>
          <a:prstGeom prst="rect">
            <a:avLst/>
          </a:prstGeom>
        </p:spPr>
      </p:pic>
      <p:pic>
        <p:nvPicPr>
          <p:cNvPr id="10" name="Picture 9">
            <a:extLst>
              <a:ext uri="{FF2B5EF4-FFF2-40B4-BE49-F238E27FC236}">
                <a16:creationId xmlns:a16="http://schemas.microsoft.com/office/drawing/2014/main" xmlns="" id="{AAA56347-8E96-4B70-9D0F-54F0E3B41BCF}"/>
              </a:ext>
            </a:extLst>
          </p:cNvPr>
          <p:cNvPicPr>
            <a:picLocks noChangeAspect="1"/>
          </p:cNvPicPr>
          <p:nvPr/>
        </p:nvPicPr>
        <p:blipFill rotWithShape="1">
          <a:blip r:embed="rId3"/>
          <a:stretch/>
        </p:blipFill>
        <p:spPr>
          <a:xfrm>
            <a:off x="1147933" y="3050000"/>
            <a:ext cx="5558166" cy="709153"/>
          </a:xfrm>
          <a:prstGeom prst="rect">
            <a:avLst/>
          </a:prstGeom>
        </p:spPr>
      </p:pic>
    </p:spTree>
    <p:extLst>
      <p:ext uri="{BB962C8B-B14F-4D97-AF65-F5344CB8AC3E}">
        <p14:creationId xmlns:p14="http://schemas.microsoft.com/office/powerpoint/2010/main" xmlns="" val="9164099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DB0F7DE-EB08-F95E-1BA7-1B5E8D772E7B}"/>
              </a:ext>
            </a:extLst>
          </p:cNvPr>
          <p:cNvSpPr txBox="1"/>
          <p:nvPr/>
        </p:nvSpPr>
        <p:spPr>
          <a:xfrm>
            <a:off x="457199" y="925145"/>
            <a:ext cx="7624307" cy="3293209"/>
          </a:xfrm>
          <a:prstGeom prst="rect">
            <a:avLst/>
          </a:prstGeom>
          <a:noFill/>
        </p:spPr>
        <p:txBody>
          <a:bodyPr wrap="square" rtlCol="0">
            <a:spAutoFit/>
          </a:bodyPr>
          <a:lstStyle/>
          <a:p>
            <a:pPr marL="342900" indent="-342900">
              <a:buAutoNum type="arabicPeriod"/>
            </a:pPr>
            <a:r>
              <a:rPr lang="en-IN" sz="1600" b="1" dirty="0">
                <a:latin typeface="Times New Roman" panose="02020603050405020304" pitchFamily="18" charset="0"/>
                <a:cs typeface="Times New Roman" panose="02020603050405020304" pitchFamily="18" charset="0"/>
              </a:rPr>
              <a:t>Precision</a:t>
            </a:r>
            <a:r>
              <a:rPr lang="en-IN" sz="1600" dirty="0">
                <a:latin typeface="Times New Roman" panose="02020603050405020304" pitchFamily="18" charset="0"/>
                <a:cs typeface="Times New Roman" panose="02020603050405020304" pitchFamily="18" charset="0"/>
              </a:rPr>
              <a:t> = 99.87%</a:t>
            </a:r>
          </a:p>
          <a:p>
            <a:r>
              <a:rPr lang="en-IN" sz="1600" dirty="0">
                <a:latin typeface="Times New Roman" panose="02020603050405020304" pitchFamily="18" charset="0"/>
                <a:cs typeface="Times New Roman" panose="02020603050405020304" pitchFamily="18" charset="0"/>
              </a:rPr>
              <a:t>                  TP = 3,084, FP = 4 </a:t>
            </a:r>
          </a:p>
          <a:p>
            <a:r>
              <a:rPr lang="en-IN" sz="1600" dirty="0">
                <a:latin typeface="Times New Roman" panose="02020603050405020304" pitchFamily="18" charset="0"/>
                <a:cs typeface="Times New Roman" panose="02020603050405020304" pitchFamily="18" charset="0"/>
              </a:rPr>
              <a:t>                  Calculation: 3,084 / 3,088 = 0.9987</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2</a:t>
            </a:r>
            <a:r>
              <a:rPr lang="en-IN" sz="1600" dirty="0" smtClean="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Recall</a:t>
            </a:r>
            <a:r>
              <a:rPr lang="en-IN" sz="1600" dirty="0">
                <a:latin typeface="Times New Roman" panose="02020603050405020304" pitchFamily="18" charset="0"/>
                <a:cs typeface="Times New Roman" panose="02020603050405020304" pitchFamily="18" charset="0"/>
              </a:rPr>
              <a:t> = 72.50%</a:t>
            </a:r>
          </a:p>
          <a:p>
            <a:r>
              <a:rPr lang="en-IN" sz="1600" dirty="0">
                <a:latin typeface="Times New Roman" panose="02020603050405020304" pitchFamily="18" charset="0"/>
                <a:cs typeface="Times New Roman" panose="02020603050405020304" pitchFamily="18" charset="0"/>
              </a:rPr>
              <a:t>                 TP = 3,084, FN = 1,170</a:t>
            </a:r>
          </a:p>
          <a:p>
            <a:r>
              <a:rPr lang="en-IN" sz="1600" dirty="0">
                <a:latin typeface="Times New Roman" panose="02020603050405020304" pitchFamily="18" charset="0"/>
                <a:cs typeface="Times New Roman" panose="02020603050405020304" pitchFamily="18" charset="0"/>
              </a:rPr>
              <a:t>                  Calculation: 3,084 / 4,254 = 0.7250</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3. </a:t>
            </a:r>
            <a:r>
              <a:rPr lang="en-IN" sz="1600" dirty="0" smtClean="0">
                <a:latin typeface="Times New Roman" panose="02020603050405020304" pitchFamily="18" charset="0"/>
                <a:cs typeface="Times New Roman" panose="02020603050405020304" pitchFamily="18" charset="0"/>
              </a:rPr>
              <a:t>   </a:t>
            </a:r>
            <a:r>
              <a:rPr lang="en-IN" sz="1600" b="1" dirty="0" smtClean="0">
                <a:latin typeface="Times New Roman" panose="02020603050405020304" pitchFamily="18" charset="0"/>
                <a:cs typeface="Times New Roman" panose="02020603050405020304" pitchFamily="18" charset="0"/>
              </a:rPr>
              <a:t>F1-Score</a:t>
            </a:r>
            <a:r>
              <a:rPr lang="en-IN" sz="1600" dirty="0" smtClean="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84.01%</a:t>
            </a:r>
          </a:p>
          <a:p>
            <a:r>
              <a:rPr lang="en-IN" sz="1600" dirty="0">
                <a:latin typeface="Times New Roman" panose="02020603050405020304" pitchFamily="18" charset="0"/>
                <a:cs typeface="Times New Roman" panose="02020603050405020304" pitchFamily="18" charset="0"/>
              </a:rPr>
              <a:t>                  Calculation: 2 _ (0.9987 _ 0.7250) / (0.9987 + 0.7250) = 0.8401</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a:t>
            </a:r>
            <a:r>
              <a:rPr lang="en-IN" sz="1600" dirty="0" smtClean="0">
                <a:latin typeface="Times New Roman" panose="02020603050405020304" pitchFamily="18" charset="0"/>
                <a:cs typeface="Times New Roman" panose="02020603050405020304" pitchFamily="18" charset="0"/>
              </a:rPr>
              <a:t>   </a:t>
            </a:r>
            <a:r>
              <a:rPr lang="en-IN" sz="1600" b="1" dirty="0" smtClean="0">
                <a:latin typeface="Times New Roman" panose="02020603050405020304" pitchFamily="18" charset="0"/>
                <a:cs typeface="Times New Roman" panose="02020603050405020304" pitchFamily="18" charset="0"/>
              </a:rPr>
              <a:t>PR-AUC</a:t>
            </a:r>
            <a:r>
              <a:rPr lang="en-IN" sz="1600" dirty="0" smtClean="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96.24%</a:t>
            </a:r>
          </a:p>
          <a:p>
            <a:r>
              <a:rPr lang="en-IN" sz="1600" dirty="0">
                <a:latin typeface="Times New Roman" panose="02020603050405020304" pitchFamily="18" charset="0"/>
                <a:cs typeface="Times New Roman" panose="02020603050405020304" pitchFamily="18" charset="0"/>
              </a:rPr>
              <a:t>             PR-AUC = Area Under the Precision-Recall CurveValue = 0.9624 = 96.24%</a:t>
            </a:r>
          </a:p>
        </p:txBody>
      </p:sp>
    </p:spTree>
    <p:extLst>
      <p:ext uri="{BB962C8B-B14F-4D97-AF65-F5344CB8AC3E}">
        <p14:creationId xmlns:p14="http://schemas.microsoft.com/office/powerpoint/2010/main" xmlns="" val="41034072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xmlns="" id="{F6BE3034-5025-4612-8966-ADA984B5BC84}"/>
              </a:ext>
            </a:extLst>
          </p:cNvPr>
          <p:cNvSpPr txBox="1">
            <a:spLocks/>
          </p:cNvSpPr>
          <p:nvPr/>
        </p:nvSpPr>
        <p:spPr>
          <a:xfrm>
            <a:off x="311150" y="477636"/>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buClrTx/>
              <a:buFontTx/>
            </a:pPr>
            <a:r>
              <a:rPr lang="en-US" sz="2200" b="1" dirty="0">
                <a:solidFill>
                  <a:srgbClr val="002060"/>
                </a:solidFill>
                <a:latin typeface="Times New Roman" pitchFamily="18" charset="0"/>
                <a:cs typeface="Times New Roman" pitchFamily="18" charset="0"/>
              </a:rPr>
              <a:t>Insights And Recommendations</a:t>
            </a:r>
          </a:p>
        </p:txBody>
      </p:sp>
      <p:sp>
        <p:nvSpPr>
          <p:cNvPr id="4" name="TextBox 3">
            <a:extLst>
              <a:ext uri="{FF2B5EF4-FFF2-40B4-BE49-F238E27FC236}">
                <a16:creationId xmlns:a16="http://schemas.microsoft.com/office/drawing/2014/main" xmlns="" id="{E84B44C7-FD6F-4901-AD7B-C52020CCBDA0}"/>
              </a:ext>
            </a:extLst>
          </p:cNvPr>
          <p:cNvSpPr txBox="1"/>
          <p:nvPr/>
        </p:nvSpPr>
        <p:spPr>
          <a:xfrm>
            <a:off x="248640" y="1032650"/>
            <a:ext cx="8379238" cy="4031873"/>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Insights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Combining XGBoost with transaction graphs and TGN captures both individual transaction behavior and the relationships between accounts.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Community detection helps identify potential fraud rings, and SHAP makes predictions explainable so analysts can see why a transaction is flagged.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ADWIN detects changing transaction patterns, helping the system stay relevant as fraud behavior evolves.</a:t>
            </a:r>
          </a:p>
          <a:p>
            <a:r>
              <a:rPr lang="en-US" sz="1600" b="1" dirty="0">
                <a:latin typeface="Times New Roman" panose="02020603050405020304" pitchFamily="18" charset="0"/>
                <a:cs typeface="Times New Roman" panose="02020603050405020304" pitchFamily="18" charset="0"/>
              </a:rPr>
              <a:t>Recommendations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Evaluate the system with precision, recall, F1-score, and PR-AUC rather than accuracy, since fraud data is highly imbalanced.</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Update or retrain the models whenever ADWIN signals a change in transaction patterns.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Validate the system on real-world transaction data beyond PaySim and integrate it with real-time transaction streams.</a:t>
            </a:r>
          </a:p>
        </p:txBody>
      </p:sp>
    </p:spTree>
    <p:extLst>
      <p:ext uri="{BB962C8B-B14F-4D97-AF65-F5344CB8AC3E}">
        <p14:creationId xmlns:p14="http://schemas.microsoft.com/office/powerpoint/2010/main" xmlns="" val="11719737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F90F4B-9803-CB1B-02A8-FB5D111C9F43}"/>
              </a:ext>
            </a:extLst>
          </p:cNvPr>
          <p:cNvSpPr>
            <a:spLocks noGrp="1"/>
          </p:cNvSpPr>
          <p:nvPr>
            <p:ph type="title" idx="4294967295"/>
          </p:nvPr>
        </p:nvSpPr>
        <p:spPr>
          <a:xfrm>
            <a:off x="130629" y="648607"/>
            <a:ext cx="2416628"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Times New Roman" pitchFamily="18" charset="0"/>
                <a:cs typeface="Times New Roman" pitchFamily="18" charset="0"/>
              </a:rPr>
              <a:t>Conclusion</a:t>
            </a:r>
            <a:endParaRPr lang="en-IN" sz="2200" b="1" dirty="0">
              <a:solidFill>
                <a:srgbClr val="002060"/>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xmlns="" id="{7A694902-33BF-4AE5-B433-C1809E0849A9}"/>
              </a:ext>
            </a:extLst>
          </p:cNvPr>
          <p:cNvSpPr txBox="1"/>
          <p:nvPr/>
        </p:nvSpPr>
        <p:spPr>
          <a:xfrm>
            <a:off x="334297" y="1170906"/>
            <a:ext cx="5324168" cy="3108543"/>
          </a:xfrm>
          <a:prstGeom prst="rect">
            <a:avLst/>
          </a:prstGeom>
          <a:noFill/>
        </p:spPr>
        <p:txBody>
          <a:bodyPr wrap="square">
            <a:spAutoFit/>
          </a:bodyPr>
          <a:lstStyle/>
          <a:p>
            <a:pPr marL="285750" indent="-285750" algn="just"/>
            <a:r>
              <a:rPr lang="en-US" dirty="0">
                <a:latin typeface="Times New Roman" panose="02020603050405020304" pitchFamily="18" charset="0"/>
                <a:cs typeface="Times New Roman" panose="02020603050405020304" pitchFamily="18" charset="0"/>
              </a:rPr>
              <a:t>The project delivers a real-time hybrid ML system </a:t>
            </a:r>
            <a:r>
              <a:rPr lang="en-US" dirty="0" smtClean="0">
                <a:latin typeface="Times New Roman" panose="02020603050405020304" pitchFamily="18" charset="0"/>
                <a:cs typeface="Times New Roman" panose="02020603050405020304" pitchFamily="18" charset="0"/>
              </a:rPr>
              <a:t>for</a:t>
            </a:r>
            <a:r>
              <a:rPr lang="en-US" dirty="0" smtClean="0"/>
              <a:t> Our project,</a:t>
            </a:r>
          </a:p>
          <a:p>
            <a:pPr marL="285750" indent="-285750" algn="just"/>
            <a:r>
              <a:rPr lang="en-US" b="1" dirty="0" smtClean="0"/>
              <a:t>Financial Fraud Detection and Transaction Pattern Analysis</a:t>
            </a:r>
            <a:r>
              <a:rPr lang="en-US" dirty="0" smtClean="0"/>
              <a:t>, </a:t>
            </a:r>
          </a:p>
          <a:p>
            <a:pPr marL="285750" indent="-285750" algn="just"/>
            <a:r>
              <a:rPr lang="en-US" dirty="0" smtClean="0"/>
              <a:t>uses a </a:t>
            </a:r>
            <a:r>
              <a:rPr lang="en-US" b="1" dirty="0" smtClean="0"/>
              <a:t>hybrid approach</a:t>
            </a:r>
            <a:r>
              <a:rPr lang="en-US" dirty="0" smtClean="0"/>
              <a:t> to detect and analyze financial fraud. </a:t>
            </a:r>
          </a:p>
          <a:p>
            <a:pPr marL="285750" indent="-285750" algn="just"/>
            <a:r>
              <a:rPr lang="en-US" b="1" dirty="0" smtClean="0"/>
              <a:t>XGBoost</a:t>
            </a:r>
            <a:r>
              <a:rPr lang="en-US" dirty="0" smtClean="0"/>
              <a:t> is used to identify fraudulent transactions, while </a:t>
            </a:r>
          </a:p>
          <a:p>
            <a:pPr marL="285750" indent="-285750" algn="just"/>
            <a:r>
              <a:rPr lang="en-US" b="1" dirty="0" smtClean="0"/>
              <a:t>Temporal Graph Network (TGN)</a:t>
            </a:r>
            <a:r>
              <a:rPr lang="en-US" dirty="0" smtClean="0"/>
              <a:t> analysis helps study </a:t>
            </a:r>
          </a:p>
          <a:p>
            <a:pPr marL="285750" indent="-285750" algn="just"/>
            <a:r>
              <a:rPr lang="en-US" dirty="0" smtClean="0"/>
              <a:t>transaction relationships and connected accounts to identify </a:t>
            </a:r>
          </a:p>
          <a:p>
            <a:pPr marL="285750" indent="-285750" algn="just"/>
            <a:r>
              <a:rPr lang="en-US" dirty="0" smtClean="0"/>
              <a:t>possible fraud patterns and groups. </a:t>
            </a:r>
            <a:r>
              <a:rPr lang="en-US" b="1" dirty="0" smtClean="0"/>
              <a:t>SHAP</a:t>
            </a:r>
            <a:r>
              <a:rPr lang="en-US" dirty="0" smtClean="0"/>
              <a:t> provides explanations </a:t>
            </a:r>
          </a:p>
          <a:p>
            <a:pPr marL="285750" indent="-285750" algn="just"/>
            <a:r>
              <a:rPr lang="en-US" dirty="0" smtClean="0"/>
              <a:t>for the model's predictions, making fraud alerts easier to </a:t>
            </a:r>
          </a:p>
          <a:p>
            <a:pPr marL="285750" indent="-285750" algn="just"/>
            <a:r>
              <a:rPr lang="en-US" dirty="0" smtClean="0"/>
              <a:t>understand. </a:t>
            </a:r>
            <a:r>
              <a:rPr lang="en-US" b="1" dirty="0" smtClean="0"/>
              <a:t>ADWIN-based drift monitoring</a:t>
            </a:r>
            <a:r>
              <a:rPr lang="en-US" dirty="0" smtClean="0"/>
              <a:t> helps detect </a:t>
            </a:r>
          </a:p>
          <a:p>
            <a:pPr marL="285750" indent="-285750" algn="just"/>
            <a:r>
              <a:rPr lang="en-US" dirty="0" smtClean="0"/>
              <a:t>changes in fraud patterns over time and supports model </a:t>
            </a:r>
          </a:p>
          <a:p>
            <a:pPr marL="285750" indent="-285750" algn="just"/>
            <a:r>
              <a:rPr lang="en-US" dirty="0" smtClean="0"/>
              <a:t>adaptation. Overall, our approach combines </a:t>
            </a:r>
            <a:r>
              <a:rPr lang="en-US" b="1" dirty="0" smtClean="0"/>
              <a:t>fraud detection, </a:t>
            </a:r>
          </a:p>
          <a:p>
            <a:pPr marL="285750" indent="-285750" algn="just"/>
            <a:r>
              <a:rPr lang="en-US" b="1" dirty="0" smtClean="0"/>
              <a:t>transaction-network analysis, explainability, and drift </a:t>
            </a:r>
          </a:p>
          <a:p>
            <a:pPr marL="285750" indent="-285750" algn="just"/>
            <a:r>
              <a:rPr lang="en-US" b="1" dirty="0" smtClean="0"/>
              <a:t>monitoring</a:t>
            </a:r>
            <a:r>
              <a:rPr lang="en-US" dirty="0" smtClean="0"/>
              <a:t> to provide a more adaptive and scalable solution for </a:t>
            </a:r>
          </a:p>
          <a:p>
            <a:pPr marL="285750" indent="-285750" algn="just"/>
            <a:r>
              <a:rPr lang="en-US" dirty="0" smtClean="0"/>
              <a:t>modern financial fraud detection.</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37FA60A7-1CC8-4777-BF5B-C643096042E2}"/>
              </a:ext>
            </a:extLst>
          </p:cNvPr>
          <p:cNvPicPr>
            <a:picLocks noChangeAspect="1"/>
          </p:cNvPicPr>
          <p:nvPr/>
        </p:nvPicPr>
        <p:blipFill rotWithShape="1">
          <a:blip r:embed="rId2"/>
          <a:stretch/>
        </p:blipFill>
        <p:spPr>
          <a:xfrm>
            <a:off x="5658465" y="1735394"/>
            <a:ext cx="3374635" cy="1843548"/>
          </a:xfrm>
          <a:prstGeom prst="rect">
            <a:avLst/>
          </a:prstGeom>
        </p:spPr>
      </p:pic>
    </p:spTree>
    <p:extLst>
      <p:ext uri="{BB962C8B-B14F-4D97-AF65-F5344CB8AC3E}">
        <p14:creationId xmlns:p14="http://schemas.microsoft.com/office/powerpoint/2010/main" xmlns="" val="21747845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F10A2C-122D-B694-9544-674D5B7F3F6D}"/>
              </a:ext>
            </a:extLst>
          </p:cNvPr>
          <p:cNvSpPr>
            <a:spLocks noGrp="1"/>
          </p:cNvSpPr>
          <p:nvPr>
            <p:ph type="title" idx="4294967295"/>
          </p:nvPr>
        </p:nvSpPr>
        <p:spPr>
          <a:xfrm>
            <a:off x="193288" y="646906"/>
            <a:ext cx="2533583"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Times New Roman" pitchFamily="18" charset="0"/>
                <a:cs typeface="Times New Roman" pitchFamily="18" charset="0"/>
              </a:rPr>
              <a:t>Future Scope</a:t>
            </a:r>
            <a:endParaRPr lang="en-IN" sz="2200" b="1" dirty="0">
              <a:solidFill>
                <a:srgbClr val="002060"/>
              </a:solidFill>
              <a:latin typeface="Times New Roman" pitchFamily="18" charset="0"/>
              <a:cs typeface="Times New Roman" pitchFamily="18" charset="0"/>
            </a:endParaRPr>
          </a:p>
        </p:txBody>
      </p:sp>
      <p:sp>
        <p:nvSpPr>
          <p:cNvPr id="9" name="TextBox 8">
            <a:extLst>
              <a:ext uri="{FF2B5EF4-FFF2-40B4-BE49-F238E27FC236}">
                <a16:creationId xmlns:a16="http://schemas.microsoft.com/office/drawing/2014/main" xmlns="" id="{D2435ACD-8121-475E-A2E9-96786B59C142}"/>
              </a:ext>
            </a:extLst>
          </p:cNvPr>
          <p:cNvSpPr txBox="1"/>
          <p:nvPr/>
        </p:nvSpPr>
        <p:spPr>
          <a:xfrm>
            <a:off x="347346" y="1160179"/>
            <a:ext cx="4799841" cy="3785652"/>
          </a:xfrm>
          <a:prstGeom prst="rect">
            <a:avLst/>
          </a:prstGeom>
          <a:noFill/>
        </p:spPr>
        <p:txBody>
          <a:bodyPr wrap="square">
            <a:spAutoFit/>
          </a:bodyPr>
          <a:lstStyle/>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Integration of </a:t>
            </a:r>
            <a:r>
              <a:rPr lang="en-IN" sz="1600" b="1" dirty="0">
                <a:latin typeface="Times New Roman" panose="02020603050405020304" pitchFamily="18" charset="0"/>
                <a:cs typeface="Times New Roman" panose="02020603050405020304" pitchFamily="18" charset="0"/>
              </a:rPr>
              <a:t>graph neural networks (GNNs) </a:t>
            </a:r>
            <a:r>
              <a:rPr lang="en-IN" sz="1600" dirty="0">
                <a:latin typeface="Times New Roman" panose="02020603050405020304" pitchFamily="18" charset="0"/>
                <a:cs typeface="Times New Roman" panose="02020603050405020304" pitchFamily="18" charset="0"/>
              </a:rPr>
              <a:t>for deeper fraud-ring and network-level detection.</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Implementation of </a:t>
            </a:r>
            <a:r>
              <a:rPr lang="en-IN" sz="1600" b="1" dirty="0">
                <a:latin typeface="Times New Roman" panose="02020603050405020304" pitchFamily="18" charset="0"/>
                <a:cs typeface="Times New Roman" panose="02020603050405020304" pitchFamily="18" charset="0"/>
              </a:rPr>
              <a:t>federated learning </a:t>
            </a:r>
            <a:r>
              <a:rPr lang="en-IN" sz="1600" dirty="0">
                <a:latin typeface="Times New Roman" panose="02020603050405020304" pitchFamily="18" charset="0"/>
                <a:cs typeface="Times New Roman" panose="02020603050405020304" pitchFamily="18" charset="0"/>
              </a:rPr>
              <a:t>to train across banks without sharing raw customer data.</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Development of </a:t>
            </a:r>
            <a:r>
              <a:rPr lang="en-IN" sz="1600" b="1" dirty="0">
                <a:latin typeface="Times New Roman" panose="02020603050405020304" pitchFamily="18" charset="0"/>
                <a:cs typeface="Times New Roman" panose="02020603050405020304" pitchFamily="18" charset="0"/>
              </a:rPr>
              <a:t>streaming deployment </a:t>
            </a:r>
            <a:r>
              <a:rPr lang="en-IN" sz="1600" dirty="0">
                <a:latin typeface="Times New Roman" panose="02020603050405020304" pitchFamily="18" charset="0"/>
                <a:cs typeface="Times New Roman" panose="02020603050405020304" pitchFamily="18" charset="0"/>
              </a:rPr>
              <a:t>with Kafka or Flink for sub-second, high-throughput scoring.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Integration with </a:t>
            </a:r>
            <a:r>
              <a:rPr lang="en-IN" sz="1600" b="1" dirty="0">
                <a:latin typeface="Times New Roman" panose="02020603050405020304" pitchFamily="18" charset="0"/>
                <a:cs typeface="Times New Roman" panose="02020603050405020304" pitchFamily="18" charset="0"/>
              </a:rPr>
              <a:t>behavioral biometrics </a:t>
            </a:r>
            <a:r>
              <a:rPr lang="en-IN" sz="1600" dirty="0">
                <a:latin typeface="Times New Roman" panose="02020603050405020304" pitchFamily="18" charset="0"/>
                <a:cs typeface="Times New Roman" panose="02020603050405020304" pitchFamily="18" charset="0"/>
              </a:rPr>
              <a:t>and device intelligence for stronger authentication.</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Deployment on large-scale banking platforms with </a:t>
            </a:r>
            <a:r>
              <a:rPr lang="en-IN" sz="1600" b="1" dirty="0">
                <a:latin typeface="Times New Roman" panose="02020603050405020304" pitchFamily="18" charset="0"/>
                <a:cs typeface="Times New Roman" panose="02020603050405020304" pitchFamily="18" charset="0"/>
              </a:rPr>
              <a:t>cloud-based scalability.</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Enhancement using </a:t>
            </a:r>
            <a:r>
              <a:rPr lang="en-IN" sz="1600" b="1" dirty="0">
                <a:latin typeface="Times New Roman" panose="02020603050405020304" pitchFamily="18" charset="0"/>
                <a:cs typeface="Times New Roman" panose="02020603050405020304" pitchFamily="18" charset="0"/>
              </a:rPr>
              <a:t>advanced explainability such as counterfactual explanations for analysts.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Incorporation of </a:t>
            </a:r>
            <a:r>
              <a:rPr lang="en-IN" sz="1600" b="1" dirty="0">
                <a:latin typeface="Times New Roman" panose="02020603050405020304" pitchFamily="18" charset="0"/>
                <a:cs typeface="Times New Roman" panose="02020603050405020304" pitchFamily="18" charset="0"/>
              </a:rPr>
              <a:t>Transformer-based or sequence models </a:t>
            </a:r>
            <a:r>
              <a:rPr lang="en-IN" sz="1600" dirty="0">
                <a:latin typeface="Times New Roman" panose="02020603050405020304" pitchFamily="18" charset="0"/>
                <a:cs typeface="Times New Roman" panose="02020603050405020304" pitchFamily="18" charset="0"/>
              </a:rPr>
              <a:t>to capture long-term customer transaction behavior.</a:t>
            </a:r>
          </a:p>
        </p:txBody>
      </p:sp>
      <p:pic>
        <p:nvPicPr>
          <p:cNvPr id="5" name="Picture 4">
            <a:extLst>
              <a:ext uri="{FF2B5EF4-FFF2-40B4-BE49-F238E27FC236}">
                <a16:creationId xmlns:a16="http://schemas.microsoft.com/office/drawing/2014/main" xmlns="" id="{6458FFAF-20F7-422B-A5D8-D506F481FDC9}"/>
              </a:ext>
            </a:extLst>
          </p:cNvPr>
          <p:cNvPicPr>
            <a:picLocks noChangeAspect="1"/>
          </p:cNvPicPr>
          <p:nvPr/>
        </p:nvPicPr>
        <p:blipFill rotWithShape="1">
          <a:blip r:embed="rId2"/>
          <a:stretch/>
        </p:blipFill>
        <p:spPr>
          <a:xfrm>
            <a:off x="5215869" y="1597741"/>
            <a:ext cx="3770552" cy="2246672"/>
          </a:xfrm>
          <a:prstGeom prst="rect">
            <a:avLst/>
          </a:prstGeom>
        </p:spPr>
      </p:pic>
    </p:spTree>
    <p:extLst>
      <p:ext uri="{BB962C8B-B14F-4D97-AF65-F5344CB8AC3E}">
        <p14:creationId xmlns:p14="http://schemas.microsoft.com/office/powerpoint/2010/main" xmlns="" val="7051142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xmlns="" id="{15F47A66-6A16-A2DA-4391-046F577EDC5F}"/>
              </a:ext>
            </a:extLst>
          </p:cNvPr>
          <p:cNvSpPr txBox="1"/>
          <p:nvPr/>
        </p:nvSpPr>
        <p:spPr>
          <a:xfrm>
            <a:off x="2632982" y="1781046"/>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Times New Roman" pitchFamily="18" charset="0"/>
                <a:ea typeface="Aileron Ultra-Bold"/>
                <a:cs typeface="Times New Roman" pitchFamily="18" charset="0"/>
                <a:sym typeface="Aileron Ultra-Bold"/>
              </a:rPr>
              <a:t>Thank You</a:t>
            </a:r>
          </a:p>
        </p:txBody>
      </p:sp>
    </p:spTree>
    <p:extLst>
      <p:ext uri="{BB962C8B-B14F-4D97-AF65-F5344CB8AC3E}">
        <p14:creationId xmlns:p14="http://schemas.microsoft.com/office/powerpoint/2010/main" xmlns="" val="1882378288"/>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21E1C5FD398A4287C0920180B68150" ma:contentTypeVersion="18" ma:contentTypeDescription="Create a new document." ma:contentTypeScope="" ma:versionID="26704334229d571494ec08df731579b2">
  <xsd:schema xmlns:xsd="http://www.w3.org/2001/XMLSchema" xmlns:xs="http://www.w3.org/2001/XMLSchema" xmlns:p="http://schemas.microsoft.com/office/2006/metadata/properties" xmlns:ns3="94eeb56d-118c-48c3-937f-7f05817f7373" xmlns:ns4="fe56e3b0-34a1-4d6f-a501-a0b2b7006a18" targetNamespace="http://schemas.microsoft.com/office/2006/metadata/properties" ma:root="true" ma:fieldsID="646583e16dee9c97f40ce908d27133ed" ns3:_="" ns4:_="">
    <xsd:import namespace="94eeb56d-118c-48c3-937f-7f05817f7373"/>
    <xsd:import namespace="fe56e3b0-34a1-4d6f-a501-a0b2b7006a18"/>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eeb56d-118c-48c3-937f-7f05817f73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e56e3b0-34a1-4d6f-a501-a0b2b7006a1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4eeb56d-118c-48c3-937f-7f05817f7373" xsi:nil="true"/>
  </documentManagement>
</p:properties>
</file>

<file path=customXml/itemProps1.xml><?xml version="1.0" encoding="utf-8"?>
<ds:datastoreItem xmlns:ds="http://schemas.openxmlformats.org/officeDocument/2006/customXml" ds:itemID="{82B6CD32-2537-46E7-8CC3-A58D44622414}">
  <ds:schemaRefs>
    <ds:schemaRef ds:uri="94eeb56d-118c-48c3-937f-7f05817f7373"/>
    <ds:schemaRef ds:uri="fe56e3b0-34a1-4d6f-a501-a0b2b7006a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A6559A34-456E-49A1-8157-9E3D18BFAD36}">
  <ds:schemaRefs>
    <ds:schemaRef ds:uri="http://purl.org/dc/elements/1.1/"/>
    <ds:schemaRef ds:uri="http://purl.org/dc/dcmitype/"/>
    <ds:schemaRef ds:uri="http://www.w3.org/XML/1998/namespace"/>
    <ds:schemaRef ds:uri="http://schemas.microsoft.com/office/2006/documentManagement/types"/>
    <ds:schemaRef ds:uri="http://schemas.microsoft.com/office/infopath/2007/PartnerControls"/>
    <ds:schemaRef ds:uri="fe56e3b0-34a1-4d6f-a501-a0b2b7006a18"/>
    <ds:schemaRef ds:uri="http://purl.org/dc/terms/"/>
    <ds:schemaRef ds:uri="http://schemas.openxmlformats.org/package/2006/metadata/core-properties"/>
    <ds:schemaRef ds:uri="94eeb56d-118c-48c3-937f-7f05817f737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1108</TotalTime>
  <Words>1237</Words>
  <Application>Microsoft Office PowerPoint</Application>
  <PresentationFormat>On-screen Show (16:9)</PresentationFormat>
  <Paragraphs>156</Paragraphs>
  <Slides>18</Slides>
  <Notes>3</Notes>
  <HiddenSlides>0</HiddenSlides>
  <MMClips>1</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Custom Design</vt:lpstr>
      <vt:lpstr>1_Custom Design</vt:lpstr>
      <vt:lpstr>Slide 1</vt:lpstr>
      <vt:lpstr>Slide 2</vt:lpstr>
      <vt:lpstr>Abstract</vt:lpstr>
      <vt:lpstr>Problem Statement</vt:lpstr>
      <vt:lpstr>Slide 5</vt:lpstr>
      <vt:lpstr>Slide 6</vt:lpstr>
      <vt:lpstr>Proposed Solution</vt:lpstr>
      <vt:lpstr>System Architecture</vt:lpstr>
      <vt:lpstr>Slide 9</vt:lpstr>
      <vt:lpstr>Slide 10</vt:lpstr>
      <vt:lpstr>Slide 11</vt:lpstr>
      <vt:lpstr>Slide 12</vt:lpstr>
      <vt:lpstr>Slide 13</vt:lpstr>
      <vt:lpstr>Slide 14</vt:lpstr>
      <vt:lpstr>Slide 15</vt:lpstr>
      <vt:lpstr>Conclusion</vt:lpstr>
      <vt:lpstr>Future Scope</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DELL</cp:lastModifiedBy>
  <cp:revision>66</cp:revision>
  <dcterms:modified xsi:type="dcterms:W3CDTF">2026-10-05T10:59:00Z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0x0101009921E1C5FD398A4287C0920180B68150</vt:lpwstr>
  </property>
  <property fmtid="{D5CDD505-2E9C-101B-9397-08002B2CF9AE}" pid="3" name="MSIP_Label_defa4170-0d19-0005-0004-bc88714345d2_Enabled">
    <vt:lpwstr>true</vt:lpwstr>
  </property>
  <property fmtid="{D5CDD505-2E9C-101B-9397-08002B2CF9AE}" pid="4" name="MSIP_Label_defa4170-0d19-0005-0004-bc88714345d2_SetDate">
    <vt:lpwstr>2023-07-11T03:09:09Z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698b2528-286a-444d-a68d-b8bbb1f69870</vt:lpwstr>
  </property>
  <property fmtid="{D5CDD505-2E9C-101B-9397-08002B2CF9AE}" pid="8" name="MSIP_Label_defa4170-0d19-0005-0004-bc88714345d2_ActionId">
    <vt:lpwstr>9e872e44-4725-4b90-87d6-01f911260b79</vt:lpwstr>
  </property>
  <property fmtid="{D5CDD505-2E9C-101B-9397-08002B2CF9AE}" pid="9" name="MSIP_Label_defa4170-0d19-0005-0004-bc88714345d2_ContentBits">
    <vt:lpwstr>0</vt:lpwstr>
  </property>
</Properties>
</file>